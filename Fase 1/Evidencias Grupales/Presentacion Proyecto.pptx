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embeddedFontLst>
    <p:embeddedFont>
      <p:font typeface="Montserrat"/>
      <p:bold r:id="rId16"/>
      <p:boldItalic r:id="rId17"/>
    </p:embeddedFont>
    <p:embeddedFont>
      <p:font typeface="Source Sans 3"/>
      <p:regular r:id="rId18"/>
      <p:bold r:id="rId19"/>
      <p:italic r:id="rId20"/>
      <p:boldItalic r:id="rId21"/>
    </p:embeddedFont>
    <p:embeddedFont>
      <p:font typeface="Montserrat Ligh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hSsh5XRVwGN1dZYLtAK3Ym9pRu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Sans3-italic.fntdata"/><Relationship Id="rId22" Type="http://schemas.openxmlformats.org/officeDocument/2006/relationships/font" Target="fonts/MontserratLight-regular.fntdata"/><Relationship Id="rId21" Type="http://schemas.openxmlformats.org/officeDocument/2006/relationships/font" Target="fonts/SourceSans3-boldItalic.fntdata"/><Relationship Id="rId24" Type="http://schemas.openxmlformats.org/officeDocument/2006/relationships/font" Target="fonts/MontserratLight-italic.fntdata"/><Relationship Id="rId23" Type="http://schemas.openxmlformats.org/officeDocument/2006/relationships/font" Target="fonts/MontserratLigh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MontserratLigh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bold.fntdata"/><Relationship Id="rId19" Type="http://schemas.openxmlformats.org/officeDocument/2006/relationships/font" Target="fonts/SourceSans3-bold.fntdata"/><Relationship Id="rId18" Type="http://schemas.openxmlformats.org/officeDocument/2006/relationships/font" Target="fonts/SourceSans3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5" name="Google Shape;105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6" name="Google Shape;106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08" name="Google Shape;108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9" name="Google Shape;109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1" name="Google Shape;121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2" name="Google Shape;122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124" name="Google Shape;124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5" name="Google Shape;125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3" name="Google Shape;143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44" name="Google Shape;144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146" name="Google Shape;146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7" name="Google Shape;147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3" name="Google Shape;163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4" name="Google Shape;164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166" name="Google Shape;166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7" name="Google Shape;167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8" name="Google Shape;188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89" name="Google Shape;189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191" name="Google Shape;191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2" name="Google Shape;192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9" name="Google Shape;229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30" name="Google Shape;230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232" name="Google Shape;232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3" name="Google Shape;233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9" name="Google Shape;259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60" name="Google Shape;260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</a:t>
            </a:r>
            <a:endParaRPr/>
          </a:p>
        </p:txBody>
      </p:sp>
      <p:sp>
        <p:nvSpPr>
          <p:cNvPr id="262" name="Google Shape;262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3" name="Google Shape;263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1" name="Google Shape;281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82" name="Google Shape;282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284" name="Google Shape;284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5" name="Google Shape;285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0" name="Google Shape;330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31" name="Google Shape;331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</a:t>
            </a:r>
            <a:endParaRPr/>
          </a:p>
        </p:txBody>
      </p:sp>
      <p:sp>
        <p:nvSpPr>
          <p:cNvPr id="333" name="Google Shape;333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4" name="Google Shape;334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10" Type="http://schemas.openxmlformats.org/officeDocument/2006/relationships/image" Target="../media/image13.png"/><Relationship Id="rId9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Relationship Id="rId8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81A1B"/>
          </a:solidFill>
          <a:ln>
            <a:noFill/>
          </a:ln>
        </p:spPr>
      </p:sp>
      <p:sp>
        <p:nvSpPr>
          <p:cNvPr id="93" name="Google Shape;93;p1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11213"/>
          </a:solidFill>
          <a:ln>
            <a:noFill/>
          </a:ln>
        </p:spPr>
      </p:sp>
      <p:sp>
        <p:nvSpPr>
          <p:cNvPr id="94" name="Google Shape;94;p1"/>
          <p:cNvSpPr txBox="1"/>
          <p:nvPr/>
        </p:nvSpPr>
        <p:spPr>
          <a:xfrm>
            <a:off x="1080564" y="1961769"/>
            <a:ext cx="16140713" cy="905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7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SIGET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1080564" y="3302117"/>
            <a:ext cx="16140713" cy="2449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8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Sistema Integral de Gestión de Equipos y Soporte Tecnológico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1080564" y="6138510"/>
            <a:ext cx="16140713" cy="1349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1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Proyecto APT — Ingeniería en Informática · Sede Puente Alto</a:t>
            </a:r>
            <a:endParaRPr/>
          </a:p>
          <a:p>
            <a:pPr indent="0" lvl="0" marL="0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1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Fecha: 10-09-2026</a:t>
            </a: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1075801" y="7830760"/>
            <a:ext cx="2003965" cy="478536"/>
          </a:xfrm>
          <a:custGeom>
            <a:rect b="b" l="l" r="r" t="t"/>
            <a:pathLst>
              <a:path extrusionOk="0" h="638048" w="2671953">
                <a:moveTo>
                  <a:pt x="0" y="50419"/>
                </a:moveTo>
                <a:cubicBezTo>
                  <a:pt x="0" y="22606"/>
                  <a:pt x="22606" y="0"/>
                  <a:pt x="50419" y="0"/>
                </a:cubicBezTo>
                <a:lnTo>
                  <a:pt x="2621534" y="0"/>
                </a:lnTo>
                <a:cubicBezTo>
                  <a:pt x="2649347" y="0"/>
                  <a:pt x="2671953" y="22606"/>
                  <a:pt x="2671953" y="50419"/>
                </a:cubicBezTo>
                <a:lnTo>
                  <a:pt x="2671953" y="587629"/>
                </a:lnTo>
                <a:cubicBezTo>
                  <a:pt x="2671953" y="615442"/>
                  <a:pt x="2649347" y="638048"/>
                  <a:pt x="2621534" y="638048"/>
                </a:cubicBezTo>
                <a:lnTo>
                  <a:pt x="50419" y="638048"/>
                </a:lnTo>
                <a:cubicBezTo>
                  <a:pt x="22606" y="638048"/>
                  <a:pt x="0" y="615569"/>
                  <a:pt x="0" y="587629"/>
                </a:cubicBez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31602" l="0" r="-1" t="-31597"/>
            </a:stretch>
          </a:blipFill>
          <a:ln cap="sq" cmpd="sng" w="952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1265701" y="7937544"/>
            <a:ext cx="2539289" cy="2745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1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DIEGO ALCAINO</a:t>
            </a:r>
            <a:endParaRPr/>
          </a:p>
        </p:txBody>
      </p:sp>
      <p:sp>
        <p:nvSpPr>
          <p:cNvPr id="99" name="Google Shape;99;p1"/>
          <p:cNvSpPr/>
          <p:nvPr/>
        </p:nvSpPr>
        <p:spPr>
          <a:xfrm>
            <a:off x="3224565" y="7830760"/>
            <a:ext cx="2477167" cy="478536"/>
          </a:xfrm>
          <a:custGeom>
            <a:rect b="b" l="l" r="r" t="t"/>
            <a:pathLst>
              <a:path extrusionOk="0" h="638048" w="3302889">
                <a:moveTo>
                  <a:pt x="0" y="50419"/>
                </a:moveTo>
                <a:cubicBezTo>
                  <a:pt x="0" y="22606"/>
                  <a:pt x="22606" y="0"/>
                  <a:pt x="50419" y="0"/>
                </a:cubicBezTo>
                <a:lnTo>
                  <a:pt x="3252470" y="0"/>
                </a:lnTo>
                <a:cubicBezTo>
                  <a:pt x="3280283" y="0"/>
                  <a:pt x="3302889" y="22606"/>
                  <a:pt x="3302889" y="50419"/>
                </a:cubicBezTo>
                <a:lnTo>
                  <a:pt x="3302889" y="587629"/>
                </a:lnTo>
                <a:cubicBezTo>
                  <a:pt x="3302889" y="615442"/>
                  <a:pt x="3280283" y="638048"/>
                  <a:pt x="3252470" y="638048"/>
                </a:cubicBezTo>
                <a:lnTo>
                  <a:pt x="50419" y="638048"/>
                </a:lnTo>
                <a:cubicBezTo>
                  <a:pt x="22606" y="638048"/>
                  <a:pt x="0" y="615569"/>
                  <a:pt x="0" y="587629"/>
                </a:cubicBez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50869" l="0" r="0" t="-50865"/>
            </a:stretch>
          </a:blipFill>
          <a:ln cap="sq" cmpd="sng" w="952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3414465" y="7937544"/>
            <a:ext cx="3012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1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JOAQUÍN RIQUELME</a:t>
            </a:r>
            <a:endParaRPr/>
          </a:p>
        </p:txBody>
      </p:sp>
      <p:sp>
        <p:nvSpPr>
          <p:cNvPr id="101" name="Google Shape;101;p1"/>
          <p:cNvSpPr/>
          <p:nvPr/>
        </p:nvSpPr>
        <p:spPr>
          <a:xfrm>
            <a:off x="5846521" y="7830760"/>
            <a:ext cx="2498216" cy="478536"/>
          </a:xfrm>
          <a:custGeom>
            <a:rect b="b" l="l" r="r" t="t"/>
            <a:pathLst>
              <a:path extrusionOk="0" h="638048" w="3330956">
                <a:moveTo>
                  <a:pt x="0" y="50419"/>
                </a:moveTo>
                <a:cubicBezTo>
                  <a:pt x="0" y="22606"/>
                  <a:pt x="22606" y="0"/>
                  <a:pt x="50419" y="0"/>
                </a:cubicBezTo>
                <a:lnTo>
                  <a:pt x="3280537" y="0"/>
                </a:lnTo>
                <a:cubicBezTo>
                  <a:pt x="3308350" y="0"/>
                  <a:pt x="3330956" y="22606"/>
                  <a:pt x="3330956" y="50419"/>
                </a:cubicBezTo>
                <a:lnTo>
                  <a:pt x="3330956" y="587629"/>
                </a:lnTo>
                <a:cubicBezTo>
                  <a:pt x="3330956" y="615442"/>
                  <a:pt x="3308350" y="638048"/>
                  <a:pt x="3280537" y="638048"/>
                </a:cubicBezTo>
                <a:lnTo>
                  <a:pt x="50419" y="638048"/>
                </a:lnTo>
                <a:cubicBezTo>
                  <a:pt x="22606" y="638048"/>
                  <a:pt x="0" y="615569"/>
                  <a:pt x="0" y="587629"/>
                </a:cubicBez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51723" l="0" r="1" t="-51719"/>
            </a:stretch>
          </a:blipFill>
          <a:ln cap="sq" cmpd="sng" w="952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>
            <a:off x="6036421" y="7937544"/>
            <a:ext cx="3033474" cy="2745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1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IGNACIO TRONCOSO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81A1B"/>
          </a:solidFill>
          <a:ln>
            <a:noFill/>
          </a:ln>
        </p:spPr>
      </p:sp>
      <p:sp>
        <p:nvSpPr>
          <p:cNvPr id="112" name="Google Shape;112;p2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11213"/>
          </a:solidFill>
          <a:ln>
            <a:noFill/>
          </a:ln>
        </p:spPr>
      </p:sp>
      <p:sp>
        <p:nvSpPr>
          <p:cNvPr id="113" name="Google Shape;113;p2"/>
          <p:cNvSpPr/>
          <p:nvPr/>
        </p:nvSpPr>
        <p:spPr>
          <a:xfrm>
            <a:off x="1080564" y="2622023"/>
            <a:ext cx="3414903" cy="469011"/>
          </a:xfrm>
          <a:custGeom>
            <a:rect b="b" l="l" r="r" t="t"/>
            <a:pathLst>
              <a:path extrusionOk="0" h="625348" w="4553204">
                <a:moveTo>
                  <a:pt x="0" y="49403"/>
                </a:moveTo>
                <a:cubicBezTo>
                  <a:pt x="0" y="22098"/>
                  <a:pt x="22098" y="0"/>
                  <a:pt x="49403" y="0"/>
                </a:cubicBezTo>
                <a:lnTo>
                  <a:pt x="4503801" y="0"/>
                </a:lnTo>
                <a:cubicBezTo>
                  <a:pt x="4531106" y="0"/>
                  <a:pt x="4553204" y="22098"/>
                  <a:pt x="4553204" y="49403"/>
                </a:cubicBezTo>
                <a:lnTo>
                  <a:pt x="4553204" y="575945"/>
                </a:lnTo>
                <a:cubicBezTo>
                  <a:pt x="4553204" y="603250"/>
                  <a:pt x="4531106" y="625348"/>
                  <a:pt x="4503801" y="625348"/>
                </a:cubicBezTo>
                <a:lnTo>
                  <a:pt x="49403" y="625348"/>
                </a:lnTo>
                <a:cubicBezTo>
                  <a:pt x="22098" y="625348"/>
                  <a:pt x="0" y="603250"/>
                  <a:pt x="0" y="575945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1265701" y="2724036"/>
            <a:ext cx="3959743" cy="2745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1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DESCRIPCIÓN DEL PROYECTO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1080564" y="3185941"/>
            <a:ext cx="16140713" cy="905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7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¿Qué es SIGET?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1080564" y="4478674"/>
            <a:ext cx="17055798" cy="539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1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SIGET es una solución informática que integra dos procesos críticos de TI: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1080564" y="5289080"/>
            <a:ext cx="16140713" cy="111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7509" lvl="1" marL="435018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401"/>
              <a:buFont typeface="Arial"/>
              <a:buChar char="•"/>
            </a:pPr>
            <a:r>
              <a:rPr b="1" i="0" lang="en-US" sz="2401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Gestión de activos:</a:t>
            </a:r>
            <a:r>
              <a:rPr b="0" i="0" lang="en-US" sz="2401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Control, trazabilidad y asignación de equipos tecnológicos (notebooks, proyectores, tablets).</a:t>
            </a:r>
            <a:endParaRPr/>
          </a:p>
          <a:p>
            <a:pPr indent="-217509" lvl="1" marL="435018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401"/>
              <a:buFont typeface="Arial"/>
              <a:buChar char="•"/>
            </a:pPr>
            <a:r>
              <a:rPr b="1" i="0" lang="en-US" sz="2401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Service Desk:</a:t>
            </a:r>
            <a:r>
              <a:rPr b="0" i="0" lang="en-US" sz="2401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Canal formal para reportar incidentes, solicitar mantenimiento y gestionar reparaciones.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1080564" y="6670538"/>
            <a:ext cx="16140713" cy="1002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1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La plataforma sincroniza ambos procesos en tiempo real: un ticket de reparación bloquea automáticamente el equipo en inventario, garantizando trazabilidad completa del ciclo de vida tecnológico.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81A1B"/>
          </a:solidFill>
          <a:ln>
            <a:noFill/>
          </a:ln>
        </p:spPr>
      </p:sp>
      <p:sp>
        <p:nvSpPr>
          <p:cNvPr id="128" name="Google Shape;128;p3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11213"/>
          </a:solidFill>
          <a:ln>
            <a:noFill/>
          </a:ln>
        </p:spPr>
      </p:sp>
      <p:sp>
        <p:nvSpPr>
          <p:cNvPr id="129" name="Google Shape;129;p3"/>
          <p:cNvSpPr/>
          <p:nvPr/>
        </p:nvSpPr>
        <p:spPr>
          <a:xfrm>
            <a:off x="1080564" y="2865844"/>
            <a:ext cx="2348008" cy="469011"/>
          </a:xfrm>
          <a:custGeom>
            <a:rect b="b" l="l" r="r" t="t"/>
            <a:pathLst>
              <a:path extrusionOk="0" h="625348" w="3130677">
                <a:moveTo>
                  <a:pt x="0" y="49403"/>
                </a:moveTo>
                <a:cubicBezTo>
                  <a:pt x="0" y="22098"/>
                  <a:pt x="22098" y="0"/>
                  <a:pt x="49403" y="0"/>
                </a:cubicBezTo>
                <a:lnTo>
                  <a:pt x="3081274" y="0"/>
                </a:lnTo>
                <a:cubicBezTo>
                  <a:pt x="3108579" y="0"/>
                  <a:pt x="3130677" y="22098"/>
                  <a:pt x="3130677" y="49403"/>
                </a:cubicBezTo>
                <a:lnTo>
                  <a:pt x="3130677" y="575945"/>
                </a:lnTo>
                <a:cubicBezTo>
                  <a:pt x="3130677" y="603250"/>
                  <a:pt x="3108579" y="625348"/>
                  <a:pt x="3081274" y="625348"/>
                </a:cubicBezTo>
                <a:lnTo>
                  <a:pt x="49403" y="625348"/>
                </a:lnTo>
                <a:cubicBezTo>
                  <a:pt x="22098" y="625348"/>
                  <a:pt x="0" y="603250"/>
                  <a:pt x="0" y="575945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1265701" y="2967857"/>
            <a:ext cx="2892876" cy="2745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1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FUNDAMENTACIÓN</a:t>
            </a:r>
            <a:endParaRPr/>
          </a:p>
        </p:txBody>
      </p:sp>
      <p:sp>
        <p:nvSpPr>
          <p:cNvPr id="131" name="Google Shape;131;p3"/>
          <p:cNvSpPr txBox="1"/>
          <p:nvPr/>
        </p:nvSpPr>
        <p:spPr>
          <a:xfrm>
            <a:off x="1080564" y="3429772"/>
            <a:ext cx="16140713" cy="905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7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 Problema que Resuelve SIGET</a:t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1080564" y="4798695"/>
            <a:ext cx="5174361" cy="2630520"/>
          </a:xfrm>
          <a:custGeom>
            <a:rect b="b" l="l" r="r" t="t"/>
            <a:pathLst>
              <a:path extrusionOk="0" h="3507359" w="6899148">
                <a:moveTo>
                  <a:pt x="0" y="61722"/>
                </a:moveTo>
                <a:cubicBezTo>
                  <a:pt x="0" y="27686"/>
                  <a:pt x="27686" y="0"/>
                  <a:pt x="61722" y="0"/>
                </a:cubicBezTo>
                <a:lnTo>
                  <a:pt x="6837426" y="0"/>
                </a:lnTo>
                <a:cubicBezTo>
                  <a:pt x="6871589" y="0"/>
                  <a:pt x="6899148" y="27686"/>
                  <a:pt x="6899148" y="61722"/>
                </a:cubicBezTo>
                <a:lnTo>
                  <a:pt x="6899148" y="3445637"/>
                </a:lnTo>
                <a:cubicBezTo>
                  <a:pt x="6899148" y="3479800"/>
                  <a:pt x="6871462" y="3507359"/>
                  <a:pt x="6837426" y="3507359"/>
                </a:cubicBezTo>
                <a:lnTo>
                  <a:pt x="61722" y="3507359"/>
                </a:lnTo>
                <a:cubicBezTo>
                  <a:pt x="27559" y="3507359"/>
                  <a:pt x="0" y="3479673"/>
                  <a:pt x="0" y="3445637"/>
                </a:cubicBezTo>
                <a:close/>
              </a:path>
            </a:pathLst>
          </a:cu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1389317" y="5097932"/>
            <a:ext cx="4556846" cy="448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2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Sin trazabilidad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1389317" y="5655031"/>
            <a:ext cx="4556846" cy="1465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1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Los equipos en reparación siguen apareciendo como disponibles, generando asignaciones erróneas.</a:t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6563668" y="4798695"/>
            <a:ext cx="5174361" cy="2630520"/>
          </a:xfrm>
          <a:custGeom>
            <a:rect b="b" l="l" r="r" t="t"/>
            <a:pathLst>
              <a:path extrusionOk="0" h="3507359" w="6899148">
                <a:moveTo>
                  <a:pt x="0" y="61722"/>
                </a:moveTo>
                <a:cubicBezTo>
                  <a:pt x="0" y="27686"/>
                  <a:pt x="27686" y="0"/>
                  <a:pt x="61722" y="0"/>
                </a:cubicBezTo>
                <a:lnTo>
                  <a:pt x="6837426" y="0"/>
                </a:lnTo>
                <a:cubicBezTo>
                  <a:pt x="6871589" y="0"/>
                  <a:pt x="6899148" y="27686"/>
                  <a:pt x="6899148" y="61722"/>
                </a:cubicBezTo>
                <a:lnTo>
                  <a:pt x="6899148" y="3445637"/>
                </a:lnTo>
                <a:cubicBezTo>
                  <a:pt x="6899148" y="3479800"/>
                  <a:pt x="6871462" y="3507359"/>
                  <a:pt x="6837426" y="3507359"/>
                </a:cubicBezTo>
                <a:lnTo>
                  <a:pt x="61722" y="3507359"/>
                </a:lnTo>
                <a:cubicBezTo>
                  <a:pt x="27559" y="3507359"/>
                  <a:pt x="0" y="3479673"/>
                  <a:pt x="0" y="3445637"/>
                </a:cubicBezTo>
                <a:close/>
              </a:path>
            </a:pathLst>
          </a:cu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"/>
          <p:cNvSpPr txBox="1"/>
          <p:nvPr/>
        </p:nvSpPr>
        <p:spPr>
          <a:xfrm>
            <a:off x="6872421" y="5097932"/>
            <a:ext cx="4556846" cy="448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2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Canales informales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6872421" y="5655031"/>
            <a:ext cx="4556846" cy="1465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1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Correos y mensajes dispersos reemplazan un proceso formal de atención técnica.</a:t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12046772" y="4798695"/>
            <a:ext cx="5174361" cy="2630520"/>
          </a:xfrm>
          <a:custGeom>
            <a:rect b="b" l="l" r="r" t="t"/>
            <a:pathLst>
              <a:path extrusionOk="0" h="3507359" w="6899148">
                <a:moveTo>
                  <a:pt x="0" y="61722"/>
                </a:moveTo>
                <a:cubicBezTo>
                  <a:pt x="0" y="27686"/>
                  <a:pt x="27686" y="0"/>
                  <a:pt x="61722" y="0"/>
                </a:cubicBezTo>
                <a:lnTo>
                  <a:pt x="6837426" y="0"/>
                </a:lnTo>
                <a:cubicBezTo>
                  <a:pt x="6871589" y="0"/>
                  <a:pt x="6899148" y="27686"/>
                  <a:pt x="6899148" y="61722"/>
                </a:cubicBezTo>
                <a:lnTo>
                  <a:pt x="6899148" y="3445637"/>
                </a:lnTo>
                <a:cubicBezTo>
                  <a:pt x="6899148" y="3479800"/>
                  <a:pt x="6871462" y="3507359"/>
                  <a:pt x="6837426" y="3507359"/>
                </a:cubicBezTo>
                <a:lnTo>
                  <a:pt x="61722" y="3507359"/>
                </a:lnTo>
                <a:cubicBezTo>
                  <a:pt x="27559" y="3507359"/>
                  <a:pt x="0" y="3479673"/>
                  <a:pt x="0" y="3445637"/>
                </a:cubicBezTo>
                <a:close/>
              </a:path>
            </a:pathLst>
          </a:cu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12355535" y="5097932"/>
            <a:ext cx="4556846" cy="448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2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Sin visibilidad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12355535" y="5655031"/>
            <a:ext cx="4556846" cy="1465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1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Los administradores carecen de indicadores en tiempo real sobre el estado del parque tecnológico.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81A1B"/>
          </a:solidFill>
          <a:ln>
            <a:noFill/>
          </a:ln>
        </p:spPr>
      </p:sp>
      <p:sp>
        <p:nvSpPr>
          <p:cNvPr id="150" name="Google Shape;150;p4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11213"/>
          </a:solidFill>
          <a:ln>
            <a:noFill/>
          </a:ln>
        </p:spPr>
      </p:sp>
      <p:sp>
        <p:nvSpPr>
          <p:cNvPr id="151" name="Google Shape;151;p4"/>
          <p:cNvSpPr/>
          <p:nvPr/>
        </p:nvSpPr>
        <p:spPr>
          <a:xfrm>
            <a:off x="1080564" y="849135"/>
            <a:ext cx="997553" cy="234220"/>
          </a:xfrm>
          <a:custGeom>
            <a:rect b="b" l="l" r="r" t="t"/>
            <a:pathLst>
              <a:path extrusionOk="0" h="312294" w="1330071">
                <a:moveTo>
                  <a:pt x="0" y="24638"/>
                </a:moveTo>
                <a:cubicBezTo>
                  <a:pt x="0" y="11049"/>
                  <a:pt x="11049" y="0"/>
                  <a:pt x="24638" y="0"/>
                </a:cubicBezTo>
                <a:lnTo>
                  <a:pt x="1305433" y="0"/>
                </a:lnTo>
                <a:cubicBezTo>
                  <a:pt x="1319022" y="0"/>
                  <a:pt x="1330071" y="11049"/>
                  <a:pt x="1330071" y="24638"/>
                </a:cubicBezTo>
                <a:lnTo>
                  <a:pt x="1330071" y="287655"/>
                </a:lnTo>
                <a:cubicBezTo>
                  <a:pt x="1330071" y="301244"/>
                  <a:pt x="1319022" y="312293"/>
                  <a:pt x="1305433" y="312293"/>
                </a:cubicBezTo>
                <a:lnTo>
                  <a:pt x="24638" y="312293"/>
                </a:lnTo>
                <a:cubicBezTo>
                  <a:pt x="11049" y="312420"/>
                  <a:pt x="0" y="301371"/>
                  <a:pt x="0" y="287655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"/>
          <p:cNvSpPr txBox="1"/>
          <p:nvPr/>
        </p:nvSpPr>
        <p:spPr>
          <a:xfrm>
            <a:off x="1173061" y="895302"/>
            <a:ext cx="1727711" cy="1419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ARQUITECTURA</a:t>
            </a:r>
            <a:endParaRPr/>
          </a:p>
        </p:txBody>
      </p:sp>
      <p:sp>
        <p:nvSpPr>
          <p:cNvPr id="153" name="Google Shape;153;p4"/>
          <p:cNvSpPr txBox="1"/>
          <p:nvPr/>
        </p:nvSpPr>
        <p:spPr>
          <a:xfrm>
            <a:off x="1080564" y="1104729"/>
            <a:ext cx="16140713" cy="448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2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Plataforma Dual + Ecosistema de APIs</a:t>
            </a:r>
            <a:endParaRPr/>
          </a:p>
        </p:txBody>
      </p:sp>
      <p:sp>
        <p:nvSpPr>
          <p:cNvPr descr="preencoded.png" id="154" name="Google Shape;154;p4"/>
          <p:cNvSpPr/>
          <p:nvPr/>
        </p:nvSpPr>
        <p:spPr>
          <a:xfrm>
            <a:off x="4593336" y="1668628"/>
            <a:ext cx="9115044" cy="8598694"/>
          </a:xfrm>
          <a:custGeom>
            <a:rect b="b" l="l" r="r" t="t"/>
            <a:pathLst>
              <a:path extrusionOk="0" h="11464925" w="12153392">
                <a:moveTo>
                  <a:pt x="0" y="0"/>
                </a:moveTo>
                <a:lnTo>
                  <a:pt x="12153392" y="0"/>
                </a:lnTo>
                <a:lnTo>
                  <a:pt x="12153392" y="11464925"/>
                </a:lnTo>
                <a:lnTo>
                  <a:pt x="0" y="114649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" l="0" r="0" t="-11"/>
            </a:stretch>
          </a:blipFill>
          <a:ln>
            <a:noFill/>
          </a:ln>
        </p:spPr>
      </p:sp>
      <p:sp>
        <p:nvSpPr>
          <p:cNvPr id="155" name="Google Shape;155;p4"/>
          <p:cNvSpPr txBox="1"/>
          <p:nvPr/>
        </p:nvSpPr>
        <p:spPr>
          <a:xfrm>
            <a:off x="5468417" y="7272223"/>
            <a:ext cx="2893676" cy="422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8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Portal</a:t>
            </a:r>
            <a:endParaRPr/>
          </a:p>
        </p:txBody>
      </p:sp>
      <p:sp>
        <p:nvSpPr>
          <p:cNvPr id="156" name="Google Shape;156;p4"/>
          <p:cNvSpPr txBox="1"/>
          <p:nvPr/>
        </p:nvSpPr>
        <p:spPr>
          <a:xfrm>
            <a:off x="5468417" y="7880623"/>
            <a:ext cx="2893676" cy="759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1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Usuarios solicitan asignaciones y reportan fallas.</a:t>
            </a:r>
            <a:endParaRPr/>
          </a:p>
        </p:txBody>
      </p:sp>
      <p:sp>
        <p:nvSpPr>
          <p:cNvPr id="157" name="Google Shape;157;p4"/>
          <p:cNvSpPr txBox="1"/>
          <p:nvPr/>
        </p:nvSpPr>
        <p:spPr>
          <a:xfrm>
            <a:off x="7647375" y="3301575"/>
            <a:ext cx="2893676" cy="422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8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API Central</a:t>
            </a:r>
            <a:endParaRPr/>
          </a:p>
        </p:txBody>
      </p:sp>
      <p:sp>
        <p:nvSpPr>
          <p:cNvPr id="158" name="Google Shape;158;p4"/>
          <p:cNvSpPr txBox="1"/>
          <p:nvPr/>
        </p:nvSpPr>
        <p:spPr>
          <a:xfrm>
            <a:off x="7647375" y="3909974"/>
            <a:ext cx="2893676" cy="759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1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Orquesta lógica y sincroniza estados entre componentes.</a:t>
            </a:r>
            <a:endParaRPr/>
          </a:p>
        </p:txBody>
      </p:sp>
      <p:sp>
        <p:nvSpPr>
          <p:cNvPr id="159" name="Google Shape;159;p4"/>
          <p:cNvSpPr txBox="1"/>
          <p:nvPr/>
        </p:nvSpPr>
        <p:spPr>
          <a:xfrm>
            <a:off x="9955206" y="7272223"/>
            <a:ext cx="2893676" cy="4221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8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1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App Técnica</a:t>
            </a:r>
            <a:endParaRPr/>
          </a:p>
        </p:txBody>
      </p:sp>
      <p:sp>
        <p:nvSpPr>
          <p:cNvPr id="160" name="Google Shape;160;p4"/>
          <p:cNvSpPr txBox="1"/>
          <p:nvPr/>
        </p:nvSpPr>
        <p:spPr>
          <a:xfrm>
            <a:off x="9955206" y="7880623"/>
            <a:ext cx="2893676" cy="759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6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1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Técnicos gestionan tickets, diagnósticos e inventario.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81A1B"/>
          </a:solidFill>
          <a:ln>
            <a:noFill/>
          </a:ln>
        </p:spPr>
      </p:sp>
      <p:sp>
        <p:nvSpPr>
          <p:cNvPr id="170" name="Google Shape;170;p5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11213"/>
          </a:solidFill>
          <a:ln>
            <a:noFill/>
          </a:ln>
        </p:spPr>
      </p:sp>
      <p:sp>
        <p:nvSpPr>
          <p:cNvPr id="171" name="Google Shape;171;p5"/>
          <p:cNvSpPr/>
          <p:nvPr/>
        </p:nvSpPr>
        <p:spPr>
          <a:xfrm>
            <a:off x="1080564" y="1164593"/>
            <a:ext cx="2604707" cy="469011"/>
          </a:xfrm>
          <a:custGeom>
            <a:rect b="b" l="l" r="r" t="t"/>
            <a:pathLst>
              <a:path extrusionOk="0" h="625348" w="3472942">
                <a:moveTo>
                  <a:pt x="0" y="49403"/>
                </a:moveTo>
                <a:cubicBezTo>
                  <a:pt x="0" y="22098"/>
                  <a:pt x="22098" y="0"/>
                  <a:pt x="49403" y="0"/>
                </a:cubicBezTo>
                <a:lnTo>
                  <a:pt x="3423539" y="0"/>
                </a:lnTo>
                <a:cubicBezTo>
                  <a:pt x="3450844" y="0"/>
                  <a:pt x="3472942" y="22098"/>
                  <a:pt x="3472942" y="49403"/>
                </a:cubicBezTo>
                <a:lnTo>
                  <a:pt x="3472942" y="575945"/>
                </a:lnTo>
                <a:cubicBezTo>
                  <a:pt x="3472942" y="603250"/>
                  <a:pt x="3450844" y="625348"/>
                  <a:pt x="3423539" y="625348"/>
                </a:cubicBezTo>
                <a:lnTo>
                  <a:pt x="49403" y="625348"/>
                </a:lnTo>
                <a:cubicBezTo>
                  <a:pt x="22098" y="625348"/>
                  <a:pt x="0" y="603250"/>
                  <a:pt x="0" y="575945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 txBox="1"/>
          <p:nvPr/>
        </p:nvSpPr>
        <p:spPr>
          <a:xfrm>
            <a:off x="1265701" y="1266615"/>
            <a:ext cx="3149498" cy="2745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1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STACK TECNOLÓGICO</a:t>
            </a:r>
            <a:endParaRPr/>
          </a:p>
        </p:txBody>
      </p:sp>
      <p:sp>
        <p:nvSpPr>
          <p:cNvPr id="173" name="Google Shape;173;p5"/>
          <p:cNvSpPr txBox="1"/>
          <p:nvPr/>
        </p:nvSpPr>
        <p:spPr>
          <a:xfrm>
            <a:off x="1080564" y="1728521"/>
            <a:ext cx="16140713" cy="905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7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Tecnologías del Proyecto</a:t>
            </a:r>
            <a:endParaRPr/>
          </a:p>
        </p:txBody>
      </p:sp>
      <p:sp>
        <p:nvSpPr>
          <p:cNvPr descr="preencoded.png" id="174" name="Google Shape;174;p5"/>
          <p:cNvSpPr/>
          <p:nvPr/>
        </p:nvSpPr>
        <p:spPr>
          <a:xfrm>
            <a:off x="1080564" y="3097454"/>
            <a:ext cx="771811" cy="771830"/>
          </a:xfrm>
          <a:custGeom>
            <a:rect b="b" l="l" r="r" t="t"/>
            <a:pathLst>
              <a:path extrusionOk="0" h="771830" w="771811">
                <a:moveTo>
                  <a:pt x="0" y="0"/>
                </a:moveTo>
                <a:lnTo>
                  <a:pt x="771810" y="0"/>
                </a:lnTo>
                <a:lnTo>
                  <a:pt x="771810" y="771830"/>
                </a:lnTo>
                <a:lnTo>
                  <a:pt x="0" y="7718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5242" l="0" r="0" t="-15242"/>
            </a:stretch>
          </a:blipFill>
          <a:ln>
            <a:noFill/>
          </a:ln>
        </p:spPr>
      </p:sp>
      <p:sp>
        <p:nvSpPr>
          <p:cNvPr id="175" name="Google Shape;175;p5"/>
          <p:cNvSpPr txBox="1"/>
          <p:nvPr/>
        </p:nvSpPr>
        <p:spPr>
          <a:xfrm>
            <a:off x="1080564" y="4245673"/>
            <a:ext cx="7877327" cy="448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2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Python · Django · DRF</a:t>
            </a:r>
            <a:endParaRPr/>
          </a:p>
        </p:txBody>
      </p:sp>
      <p:sp>
        <p:nvSpPr>
          <p:cNvPr id="176" name="Google Shape;176;p5"/>
          <p:cNvSpPr txBox="1"/>
          <p:nvPr/>
        </p:nvSpPr>
        <p:spPr>
          <a:xfrm>
            <a:off x="1080564" y="4802772"/>
            <a:ext cx="7877327" cy="1002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1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Backend, plataforma Web y desarrollo de APIs RESTful propias.</a:t>
            </a:r>
            <a:endParaRPr/>
          </a:p>
        </p:txBody>
      </p:sp>
      <p:sp>
        <p:nvSpPr>
          <p:cNvPr descr="preencoded.png" id="177" name="Google Shape;177;p5"/>
          <p:cNvSpPr/>
          <p:nvPr/>
        </p:nvSpPr>
        <p:spPr>
          <a:xfrm>
            <a:off x="9343796" y="3097454"/>
            <a:ext cx="771811" cy="771830"/>
          </a:xfrm>
          <a:custGeom>
            <a:rect b="b" l="l" r="r" t="t"/>
            <a:pathLst>
              <a:path extrusionOk="0" h="771830" w="771811">
                <a:moveTo>
                  <a:pt x="0" y="0"/>
                </a:moveTo>
                <a:lnTo>
                  <a:pt x="771811" y="0"/>
                </a:lnTo>
                <a:lnTo>
                  <a:pt x="771811" y="771830"/>
                </a:lnTo>
                <a:lnTo>
                  <a:pt x="0" y="7718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487" l="0" r="0" t="-5487"/>
            </a:stretch>
          </a:blipFill>
          <a:ln>
            <a:noFill/>
          </a:ln>
        </p:spPr>
      </p:sp>
      <p:sp>
        <p:nvSpPr>
          <p:cNvPr id="178" name="Google Shape;178;p5"/>
          <p:cNvSpPr txBox="1"/>
          <p:nvPr/>
        </p:nvSpPr>
        <p:spPr>
          <a:xfrm>
            <a:off x="9343796" y="4245673"/>
            <a:ext cx="7877480" cy="448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2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PostgreSQL</a:t>
            </a:r>
            <a:endParaRPr/>
          </a:p>
        </p:txBody>
      </p:sp>
      <p:sp>
        <p:nvSpPr>
          <p:cNvPr id="179" name="Google Shape;179;p5"/>
          <p:cNvSpPr txBox="1"/>
          <p:nvPr/>
        </p:nvSpPr>
        <p:spPr>
          <a:xfrm>
            <a:off x="9343796" y="4802772"/>
            <a:ext cx="7877480" cy="539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1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Base de datos relacional con mínimo 30 tablas normalizadas.</a:t>
            </a:r>
            <a:endParaRPr/>
          </a:p>
        </p:txBody>
      </p:sp>
      <p:sp>
        <p:nvSpPr>
          <p:cNvPr descr="preencoded.png" id="180" name="Google Shape;180;p5"/>
          <p:cNvSpPr/>
          <p:nvPr/>
        </p:nvSpPr>
        <p:spPr>
          <a:xfrm>
            <a:off x="1080564" y="6422631"/>
            <a:ext cx="771811" cy="771830"/>
          </a:xfrm>
          <a:custGeom>
            <a:rect b="b" l="l" r="r" t="t"/>
            <a:pathLst>
              <a:path extrusionOk="0" h="771830" w="771811">
                <a:moveTo>
                  <a:pt x="0" y="0"/>
                </a:moveTo>
                <a:lnTo>
                  <a:pt x="771810" y="0"/>
                </a:lnTo>
                <a:lnTo>
                  <a:pt x="771810" y="771830"/>
                </a:lnTo>
                <a:lnTo>
                  <a:pt x="0" y="7718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2440" r="-2441" t="0"/>
            </a:stretch>
          </a:blipFill>
          <a:ln>
            <a:noFill/>
          </a:ln>
        </p:spPr>
      </p:sp>
      <p:sp>
        <p:nvSpPr>
          <p:cNvPr id="181" name="Google Shape;181;p5"/>
          <p:cNvSpPr txBox="1"/>
          <p:nvPr/>
        </p:nvSpPr>
        <p:spPr>
          <a:xfrm>
            <a:off x="1080564" y="7570851"/>
            <a:ext cx="7877327" cy="448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2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PySide6 (Qt)</a:t>
            </a:r>
            <a:endParaRPr/>
          </a:p>
        </p:txBody>
      </p:sp>
      <p:sp>
        <p:nvSpPr>
          <p:cNvPr id="182" name="Google Shape;182;p5"/>
          <p:cNvSpPr txBox="1"/>
          <p:nvPr/>
        </p:nvSpPr>
        <p:spPr>
          <a:xfrm>
            <a:off x="1080564" y="8127959"/>
            <a:ext cx="7877327" cy="1002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1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Aplicación de escritorio para técnicos y administradores de inventario.</a:t>
            </a:r>
            <a:endParaRPr/>
          </a:p>
        </p:txBody>
      </p:sp>
      <p:sp>
        <p:nvSpPr>
          <p:cNvPr descr="preencoded.png" id="183" name="Google Shape;183;p5"/>
          <p:cNvSpPr/>
          <p:nvPr/>
        </p:nvSpPr>
        <p:spPr>
          <a:xfrm>
            <a:off x="9343796" y="6422631"/>
            <a:ext cx="771811" cy="771830"/>
          </a:xfrm>
          <a:custGeom>
            <a:rect b="b" l="l" r="r" t="t"/>
            <a:pathLst>
              <a:path extrusionOk="0" h="771830" w="771811">
                <a:moveTo>
                  <a:pt x="0" y="0"/>
                </a:moveTo>
                <a:lnTo>
                  <a:pt x="771811" y="0"/>
                </a:lnTo>
                <a:lnTo>
                  <a:pt x="771811" y="771830"/>
                </a:lnTo>
                <a:lnTo>
                  <a:pt x="0" y="7718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1" r="-1" t="0"/>
            </a:stretch>
          </a:blipFill>
          <a:ln>
            <a:noFill/>
          </a:ln>
        </p:spPr>
      </p:sp>
      <p:sp>
        <p:nvSpPr>
          <p:cNvPr id="184" name="Google Shape;184;p5"/>
          <p:cNvSpPr txBox="1"/>
          <p:nvPr/>
        </p:nvSpPr>
        <p:spPr>
          <a:xfrm>
            <a:off x="9343796" y="7570851"/>
            <a:ext cx="7877480" cy="448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2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Docker · Docker Compose</a:t>
            </a:r>
            <a:endParaRPr/>
          </a:p>
        </p:txBody>
      </p:sp>
      <p:sp>
        <p:nvSpPr>
          <p:cNvPr id="185" name="Google Shape;185;p5"/>
          <p:cNvSpPr txBox="1"/>
          <p:nvPr/>
        </p:nvSpPr>
        <p:spPr>
          <a:xfrm>
            <a:off x="9343796" y="8127959"/>
            <a:ext cx="7877480" cy="1002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1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Contenedorización y orquestación de servicios para portabilidad total.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81A1B"/>
          </a:solidFill>
          <a:ln>
            <a:noFill/>
          </a:ln>
        </p:spPr>
      </p:sp>
      <p:sp>
        <p:nvSpPr>
          <p:cNvPr id="195" name="Google Shape;195;p6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11213"/>
          </a:solidFill>
          <a:ln>
            <a:noFill/>
          </a:ln>
        </p:spPr>
      </p:sp>
      <p:sp>
        <p:nvSpPr>
          <p:cNvPr id="196" name="Google Shape;196;p6"/>
          <p:cNvSpPr/>
          <p:nvPr/>
        </p:nvSpPr>
        <p:spPr>
          <a:xfrm>
            <a:off x="1080564" y="933431"/>
            <a:ext cx="1204341" cy="366427"/>
          </a:xfrm>
          <a:custGeom>
            <a:rect b="b" l="l" r="r" t="t"/>
            <a:pathLst>
              <a:path extrusionOk="0" h="488569" w="1605788">
                <a:moveTo>
                  <a:pt x="0" y="38608"/>
                </a:moveTo>
                <a:cubicBezTo>
                  <a:pt x="0" y="17272"/>
                  <a:pt x="17272" y="0"/>
                  <a:pt x="38608" y="0"/>
                </a:cubicBezTo>
                <a:lnTo>
                  <a:pt x="1567180" y="0"/>
                </a:lnTo>
                <a:cubicBezTo>
                  <a:pt x="1588516" y="0"/>
                  <a:pt x="1605788" y="17272"/>
                  <a:pt x="1605788" y="38608"/>
                </a:cubicBezTo>
                <a:lnTo>
                  <a:pt x="1605788" y="449961"/>
                </a:lnTo>
                <a:cubicBezTo>
                  <a:pt x="1605788" y="471297"/>
                  <a:pt x="1588516" y="488569"/>
                  <a:pt x="1567180" y="488569"/>
                </a:cubicBezTo>
                <a:lnTo>
                  <a:pt x="38608" y="488569"/>
                </a:lnTo>
                <a:cubicBezTo>
                  <a:pt x="17272" y="488569"/>
                  <a:pt x="0" y="471297"/>
                  <a:pt x="0" y="449961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 txBox="1"/>
          <p:nvPr/>
        </p:nvSpPr>
        <p:spPr>
          <a:xfrm>
            <a:off x="1225191" y="1015194"/>
            <a:ext cx="1830181" cy="2123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1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1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OBJETIVOS</a:t>
            </a:r>
            <a:endParaRPr/>
          </a:p>
        </p:txBody>
      </p:sp>
      <p:sp>
        <p:nvSpPr>
          <p:cNvPr id="198" name="Google Shape;198;p6"/>
          <p:cNvSpPr txBox="1"/>
          <p:nvPr/>
        </p:nvSpPr>
        <p:spPr>
          <a:xfrm>
            <a:off x="1080564" y="1356150"/>
            <a:ext cx="16140713" cy="704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7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Objetivo General y Específicos</a:t>
            </a:r>
            <a:endParaRPr/>
          </a:p>
        </p:txBody>
      </p:sp>
      <p:sp>
        <p:nvSpPr>
          <p:cNvPr id="199" name="Google Shape;199;p6"/>
          <p:cNvSpPr txBox="1"/>
          <p:nvPr/>
        </p:nvSpPr>
        <p:spPr>
          <a:xfrm>
            <a:off x="1080564" y="2522087"/>
            <a:ext cx="7776200" cy="352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1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Objetivo General</a:t>
            </a:r>
            <a:endParaRPr/>
          </a:p>
        </p:txBody>
      </p:sp>
      <p:sp>
        <p:nvSpPr>
          <p:cNvPr id="200" name="Google Shape;200;p6"/>
          <p:cNvSpPr txBox="1"/>
          <p:nvPr/>
        </p:nvSpPr>
        <p:spPr>
          <a:xfrm>
            <a:off x="1080564" y="3043542"/>
            <a:ext cx="7776200" cy="985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2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Desarrollar e implementar SIGET mediante arquitectura cliente-servidor dual para centralizar activos TI, automatizar préstamos y gestionar soporte técnico bajo modelo de Service Desk.</a:t>
            </a:r>
            <a:endParaRPr/>
          </a:p>
        </p:txBody>
      </p:sp>
      <p:sp>
        <p:nvSpPr>
          <p:cNvPr id="201" name="Google Shape;201;p6"/>
          <p:cNvSpPr txBox="1"/>
          <p:nvPr/>
        </p:nvSpPr>
        <p:spPr>
          <a:xfrm>
            <a:off x="9454610" y="2522087"/>
            <a:ext cx="7776200" cy="352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1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Objetivos Específicos</a:t>
            </a:r>
            <a:endParaRPr/>
          </a:p>
        </p:txBody>
      </p:sp>
      <p:grpSp>
        <p:nvGrpSpPr>
          <p:cNvPr id="202" name="Google Shape;202;p6"/>
          <p:cNvGrpSpPr/>
          <p:nvPr/>
        </p:nvGrpSpPr>
        <p:grpSpPr>
          <a:xfrm>
            <a:off x="9454610" y="3086129"/>
            <a:ext cx="482422" cy="301466"/>
            <a:chOff x="0" y="0"/>
            <a:chExt cx="643230" cy="401955"/>
          </a:xfrm>
        </p:grpSpPr>
        <p:sp>
          <p:nvSpPr>
            <p:cNvPr id="203" name="Google Shape;203;p6"/>
            <p:cNvSpPr/>
            <p:nvPr/>
          </p:nvSpPr>
          <p:spPr>
            <a:xfrm>
              <a:off x="0" y="0"/>
              <a:ext cx="643224" cy="401952"/>
            </a:xfrm>
            <a:custGeom>
              <a:rect b="b" l="l" r="r" t="t"/>
              <a:pathLst>
                <a:path extrusionOk="0" h="401952" w="643224">
                  <a:moveTo>
                    <a:pt x="0" y="0"/>
                  </a:moveTo>
                  <a:lnTo>
                    <a:pt x="643224" y="0"/>
                  </a:lnTo>
                  <a:lnTo>
                    <a:pt x="643224" y="401952"/>
                  </a:lnTo>
                  <a:lnTo>
                    <a:pt x="0" y="40195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0177" r="-30177" t="0"/>
              </a:stretch>
            </a:blipFill>
            <a:ln>
              <a:noFill/>
            </a:ln>
          </p:spPr>
        </p:sp>
        <p:sp>
          <p:nvSpPr>
            <p:cNvPr id="204" name="Google Shape;204;p6"/>
            <p:cNvSpPr txBox="1"/>
            <p:nvPr/>
          </p:nvSpPr>
          <p:spPr>
            <a:xfrm>
              <a:off x="0" y="0"/>
              <a:ext cx="643230" cy="4019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6" u="none" cap="none" strike="noStrike">
                  <a:solidFill>
                    <a:srgbClr val="E2E6E9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01</a:t>
              </a:r>
              <a:endParaRPr/>
            </a:p>
          </p:txBody>
        </p:sp>
      </p:grpSp>
      <p:sp>
        <p:nvSpPr>
          <p:cNvPr id="205" name="Google Shape;205;p6"/>
          <p:cNvSpPr/>
          <p:nvPr/>
        </p:nvSpPr>
        <p:spPr>
          <a:xfrm>
            <a:off x="9454610" y="3467281"/>
            <a:ext cx="7776210" cy="28575"/>
          </a:xfrm>
          <a:custGeom>
            <a:rect b="b" l="l" r="r" t="t"/>
            <a:pathLst>
              <a:path extrusionOk="0" h="38100" w="10368280">
                <a:moveTo>
                  <a:pt x="0" y="0"/>
                </a:moveTo>
                <a:lnTo>
                  <a:pt x="10368280" y="0"/>
                </a:lnTo>
                <a:lnTo>
                  <a:pt x="1036828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06" name="Google Shape;206;p6"/>
          <p:cNvSpPr txBox="1"/>
          <p:nvPr/>
        </p:nvSpPr>
        <p:spPr>
          <a:xfrm>
            <a:off x="9454610" y="3625920"/>
            <a:ext cx="7776200" cy="341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2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Levantar requerimientos y diseñar arquitectura UML</a:t>
            </a:r>
            <a:endParaRPr/>
          </a:p>
        </p:txBody>
      </p:sp>
      <p:grpSp>
        <p:nvGrpSpPr>
          <p:cNvPr id="207" name="Google Shape;207;p6"/>
          <p:cNvGrpSpPr/>
          <p:nvPr/>
        </p:nvGrpSpPr>
        <p:grpSpPr>
          <a:xfrm>
            <a:off x="9454610" y="4336523"/>
            <a:ext cx="482422" cy="301466"/>
            <a:chOff x="0" y="0"/>
            <a:chExt cx="643230" cy="401955"/>
          </a:xfrm>
        </p:grpSpPr>
        <p:sp>
          <p:nvSpPr>
            <p:cNvPr id="208" name="Google Shape;208;p6"/>
            <p:cNvSpPr/>
            <p:nvPr/>
          </p:nvSpPr>
          <p:spPr>
            <a:xfrm>
              <a:off x="0" y="0"/>
              <a:ext cx="643224" cy="401952"/>
            </a:xfrm>
            <a:custGeom>
              <a:rect b="b" l="l" r="r" t="t"/>
              <a:pathLst>
                <a:path extrusionOk="0" h="401952" w="643224">
                  <a:moveTo>
                    <a:pt x="0" y="0"/>
                  </a:moveTo>
                  <a:lnTo>
                    <a:pt x="643224" y="0"/>
                  </a:lnTo>
                  <a:lnTo>
                    <a:pt x="643224" y="401952"/>
                  </a:lnTo>
                  <a:lnTo>
                    <a:pt x="0" y="40195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0177" r="-30177" t="0"/>
              </a:stretch>
            </a:blipFill>
            <a:ln>
              <a:noFill/>
            </a:ln>
          </p:spPr>
        </p:sp>
        <p:sp>
          <p:nvSpPr>
            <p:cNvPr id="209" name="Google Shape;209;p6"/>
            <p:cNvSpPr txBox="1"/>
            <p:nvPr/>
          </p:nvSpPr>
          <p:spPr>
            <a:xfrm>
              <a:off x="0" y="0"/>
              <a:ext cx="643230" cy="4019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6" u="none" cap="none" strike="noStrike">
                  <a:solidFill>
                    <a:srgbClr val="E2E6E9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02</a:t>
              </a:r>
              <a:endParaRPr/>
            </a:p>
          </p:txBody>
        </p:sp>
      </p:grpSp>
      <p:sp>
        <p:nvSpPr>
          <p:cNvPr id="210" name="Google Shape;210;p6"/>
          <p:cNvSpPr/>
          <p:nvPr/>
        </p:nvSpPr>
        <p:spPr>
          <a:xfrm>
            <a:off x="9454610" y="4717666"/>
            <a:ext cx="7776210" cy="28575"/>
          </a:xfrm>
          <a:custGeom>
            <a:rect b="b" l="l" r="r" t="t"/>
            <a:pathLst>
              <a:path extrusionOk="0" h="38100" w="10368280">
                <a:moveTo>
                  <a:pt x="0" y="0"/>
                </a:moveTo>
                <a:lnTo>
                  <a:pt x="10368280" y="0"/>
                </a:lnTo>
                <a:lnTo>
                  <a:pt x="1036828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11" name="Google Shape;211;p6"/>
          <p:cNvSpPr txBox="1"/>
          <p:nvPr/>
        </p:nvSpPr>
        <p:spPr>
          <a:xfrm>
            <a:off x="9454610" y="4876305"/>
            <a:ext cx="7776200" cy="341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2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Construir BD relacional (30+ tablas en PostgreSQL)</a:t>
            </a:r>
            <a:endParaRPr/>
          </a:p>
        </p:txBody>
      </p:sp>
      <p:grpSp>
        <p:nvGrpSpPr>
          <p:cNvPr id="212" name="Google Shape;212;p6"/>
          <p:cNvGrpSpPr/>
          <p:nvPr/>
        </p:nvGrpSpPr>
        <p:grpSpPr>
          <a:xfrm>
            <a:off x="9454610" y="5586908"/>
            <a:ext cx="482422" cy="301466"/>
            <a:chOff x="0" y="0"/>
            <a:chExt cx="643230" cy="401955"/>
          </a:xfrm>
        </p:grpSpPr>
        <p:sp>
          <p:nvSpPr>
            <p:cNvPr id="213" name="Google Shape;213;p6"/>
            <p:cNvSpPr/>
            <p:nvPr/>
          </p:nvSpPr>
          <p:spPr>
            <a:xfrm>
              <a:off x="0" y="0"/>
              <a:ext cx="643224" cy="401952"/>
            </a:xfrm>
            <a:custGeom>
              <a:rect b="b" l="l" r="r" t="t"/>
              <a:pathLst>
                <a:path extrusionOk="0" h="401952" w="643224">
                  <a:moveTo>
                    <a:pt x="0" y="0"/>
                  </a:moveTo>
                  <a:lnTo>
                    <a:pt x="643224" y="0"/>
                  </a:lnTo>
                  <a:lnTo>
                    <a:pt x="643224" y="401952"/>
                  </a:lnTo>
                  <a:lnTo>
                    <a:pt x="0" y="40195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0177" r="-30177" t="0"/>
              </a:stretch>
            </a:blipFill>
            <a:ln>
              <a:noFill/>
            </a:ln>
          </p:spPr>
        </p:sp>
        <p:sp>
          <p:nvSpPr>
            <p:cNvPr id="214" name="Google Shape;214;p6"/>
            <p:cNvSpPr txBox="1"/>
            <p:nvPr/>
          </p:nvSpPr>
          <p:spPr>
            <a:xfrm>
              <a:off x="0" y="0"/>
              <a:ext cx="643230" cy="4019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6" u="none" cap="none" strike="noStrike">
                  <a:solidFill>
                    <a:srgbClr val="E2E6E9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03</a:t>
              </a:r>
              <a:endParaRPr/>
            </a:p>
          </p:txBody>
        </p:sp>
      </p:grpSp>
      <p:sp>
        <p:nvSpPr>
          <p:cNvPr id="215" name="Google Shape;215;p6"/>
          <p:cNvSpPr/>
          <p:nvPr/>
        </p:nvSpPr>
        <p:spPr>
          <a:xfrm>
            <a:off x="9454610" y="5968060"/>
            <a:ext cx="7776210" cy="28575"/>
          </a:xfrm>
          <a:custGeom>
            <a:rect b="b" l="l" r="r" t="t"/>
            <a:pathLst>
              <a:path extrusionOk="0" h="38100" w="10368280">
                <a:moveTo>
                  <a:pt x="0" y="0"/>
                </a:moveTo>
                <a:lnTo>
                  <a:pt x="10368280" y="0"/>
                </a:lnTo>
                <a:lnTo>
                  <a:pt x="1036828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16" name="Google Shape;216;p6"/>
          <p:cNvSpPr txBox="1"/>
          <p:nvPr/>
        </p:nvSpPr>
        <p:spPr>
          <a:xfrm>
            <a:off x="9454610" y="6126699"/>
            <a:ext cx="7776200" cy="341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2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Desarrollar e integrar 5 APIs RESTful</a:t>
            </a:r>
            <a:endParaRPr/>
          </a:p>
        </p:txBody>
      </p:sp>
      <p:grpSp>
        <p:nvGrpSpPr>
          <p:cNvPr id="217" name="Google Shape;217;p6"/>
          <p:cNvGrpSpPr/>
          <p:nvPr/>
        </p:nvGrpSpPr>
        <p:grpSpPr>
          <a:xfrm>
            <a:off x="9454610" y="6837293"/>
            <a:ext cx="482422" cy="301466"/>
            <a:chOff x="0" y="0"/>
            <a:chExt cx="643230" cy="401955"/>
          </a:xfrm>
        </p:grpSpPr>
        <p:sp>
          <p:nvSpPr>
            <p:cNvPr id="218" name="Google Shape;218;p6"/>
            <p:cNvSpPr/>
            <p:nvPr/>
          </p:nvSpPr>
          <p:spPr>
            <a:xfrm>
              <a:off x="0" y="0"/>
              <a:ext cx="643224" cy="401952"/>
            </a:xfrm>
            <a:custGeom>
              <a:rect b="b" l="l" r="r" t="t"/>
              <a:pathLst>
                <a:path extrusionOk="0" h="401952" w="643224">
                  <a:moveTo>
                    <a:pt x="0" y="0"/>
                  </a:moveTo>
                  <a:lnTo>
                    <a:pt x="643224" y="0"/>
                  </a:lnTo>
                  <a:lnTo>
                    <a:pt x="643224" y="401952"/>
                  </a:lnTo>
                  <a:lnTo>
                    <a:pt x="0" y="40195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0177" r="-30177" t="0"/>
              </a:stretch>
            </a:blipFill>
            <a:ln>
              <a:noFill/>
            </a:ln>
          </p:spPr>
        </p:sp>
        <p:sp>
          <p:nvSpPr>
            <p:cNvPr id="219" name="Google Shape;219;p6"/>
            <p:cNvSpPr txBox="1"/>
            <p:nvPr/>
          </p:nvSpPr>
          <p:spPr>
            <a:xfrm>
              <a:off x="0" y="0"/>
              <a:ext cx="643230" cy="4019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6" u="none" cap="none" strike="noStrike">
                  <a:solidFill>
                    <a:srgbClr val="E2E6E9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04</a:t>
              </a:r>
              <a:endParaRPr/>
            </a:p>
          </p:txBody>
        </p:sp>
      </p:grpSp>
      <p:sp>
        <p:nvSpPr>
          <p:cNvPr id="220" name="Google Shape;220;p6"/>
          <p:cNvSpPr/>
          <p:nvPr/>
        </p:nvSpPr>
        <p:spPr>
          <a:xfrm>
            <a:off x="9454610" y="7218445"/>
            <a:ext cx="7776210" cy="28575"/>
          </a:xfrm>
          <a:custGeom>
            <a:rect b="b" l="l" r="r" t="t"/>
            <a:pathLst>
              <a:path extrusionOk="0" h="38100" w="10368280">
                <a:moveTo>
                  <a:pt x="0" y="0"/>
                </a:moveTo>
                <a:lnTo>
                  <a:pt x="10368280" y="0"/>
                </a:lnTo>
                <a:lnTo>
                  <a:pt x="1036828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21" name="Google Shape;221;p6"/>
          <p:cNvSpPr txBox="1"/>
          <p:nvPr/>
        </p:nvSpPr>
        <p:spPr>
          <a:xfrm>
            <a:off x="9454610" y="7377084"/>
            <a:ext cx="7776200" cy="341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2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Construir módulos Web (Django) y Escritorio (PySide6)</a:t>
            </a:r>
            <a:endParaRPr/>
          </a:p>
        </p:txBody>
      </p:sp>
      <p:grpSp>
        <p:nvGrpSpPr>
          <p:cNvPr id="222" name="Google Shape;222;p6"/>
          <p:cNvGrpSpPr/>
          <p:nvPr/>
        </p:nvGrpSpPr>
        <p:grpSpPr>
          <a:xfrm>
            <a:off x="9454610" y="8087687"/>
            <a:ext cx="482422" cy="301466"/>
            <a:chOff x="0" y="0"/>
            <a:chExt cx="643230" cy="401955"/>
          </a:xfrm>
        </p:grpSpPr>
        <p:sp>
          <p:nvSpPr>
            <p:cNvPr id="223" name="Google Shape;223;p6"/>
            <p:cNvSpPr/>
            <p:nvPr/>
          </p:nvSpPr>
          <p:spPr>
            <a:xfrm>
              <a:off x="0" y="0"/>
              <a:ext cx="643224" cy="401952"/>
            </a:xfrm>
            <a:custGeom>
              <a:rect b="b" l="l" r="r" t="t"/>
              <a:pathLst>
                <a:path extrusionOk="0" h="401952" w="643224">
                  <a:moveTo>
                    <a:pt x="0" y="0"/>
                  </a:moveTo>
                  <a:lnTo>
                    <a:pt x="643224" y="0"/>
                  </a:lnTo>
                  <a:lnTo>
                    <a:pt x="643224" y="401952"/>
                  </a:lnTo>
                  <a:lnTo>
                    <a:pt x="0" y="40195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0177" r="-30177" t="0"/>
              </a:stretch>
            </a:blipFill>
            <a:ln>
              <a:noFill/>
            </a:ln>
          </p:spPr>
        </p:sp>
        <p:sp>
          <p:nvSpPr>
            <p:cNvPr id="224" name="Google Shape;224;p6"/>
            <p:cNvSpPr txBox="1"/>
            <p:nvPr/>
          </p:nvSpPr>
          <p:spPr>
            <a:xfrm>
              <a:off x="0" y="0"/>
              <a:ext cx="643230" cy="4019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76" u="none" cap="none" strike="noStrike">
                  <a:solidFill>
                    <a:srgbClr val="E2E6E9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05</a:t>
              </a:r>
              <a:endParaRPr/>
            </a:p>
          </p:txBody>
        </p:sp>
      </p:grpSp>
      <p:sp>
        <p:nvSpPr>
          <p:cNvPr id="225" name="Google Shape;225;p6"/>
          <p:cNvSpPr/>
          <p:nvPr/>
        </p:nvSpPr>
        <p:spPr>
          <a:xfrm>
            <a:off x="9454610" y="8468839"/>
            <a:ext cx="7776210" cy="28575"/>
          </a:xfrm>
          <a:custGeom>
            <a:rect b="b" l="l" r="r" t="t"/>
            <a:pathLst>
              <a:path extrusionOk="0" h="38100" w="10368280">
                <a:moveTo>
                  <a:pt x="0" y="0"/>
                </a:moveTo>
                <a:lnTo>
                  <a:pt x="10368280" y="0"/>
                </a:lnTo>
                <a:lnTo>
                  <a:pt x="1036828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26" name="Google Shape;226;p6"/>
          <p:cNvSpPr txBox="1"/>
          <p:nvPr/>
        </p:nvSpPr>
        <p:spPr>
          <a:xfrm>
            <a:off x="9454610" y="8627478"/>
            <a:ext cx="7776200" cy="341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2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Desplegar con Docker y ejecutar plan QA integral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7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81A1B"/>
          </a:solidFill>
          <a:ln>
            <a:noFill/>
          </a:ln>
        </p:spPr>
      </p:sp>
      <p:sp>
        <p:nvSpPr>
          <p:cNvPr id="236" name="Google Shape;236;p7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11213"/>
          </a:solidFill>
          <a:ln>
            <a:noFill/>
          </a:ln>
        </p:spPr>
      </p:sp>
      <p:sp>
        <p:nvSpPr>
          <p:cNvPr id="237" name="Google Shape;237;p7"/>
          <p:cNvSpPr/>
          <p:nvPr/>
        </p:nvSpPr>
        <p:spPr>
          <a:xfrm>
            <a:off x="1080564" y="1011784"/>
            <a:ext cx="1855565" cy="454628"/>
          </a:xfrm>
          <a:custGeom>
            <a:rect b="b" l="l" r="r" t="t"/>
            <a:pathLst>
              <a:path extrusionOk="0" h="606171" w="2474087">
                <a:moveTo>
                  <a:pt x="0" y="47879"/>
                </a:moveTo>
                <a:cubicBezTo>
                  <a:pt x="0" y="21463"/>
                  <a:pt x="21463" y="0"/>
                  <a:pt x="47879" y="0"/>
                </a:cubicBezTo>
                <a:lnTo>
                  <a:pt x="2426208" y="0"/>
                </a:lnTo>
                <a:cubicBezTo>
                  <a:pt x="2452624" y="0"/>
                  <a:pt x="2474087" y="21463"/>
                  <a:pt x="2474087" y="47879"/>
                </a:cubicBezTo>
                <a:lnTo>
                  <a:pt x="2474087" y="558292"/>
                </a:lnTo>
                <a:cubicBezTo>
                  <a:pt x="2474087" y="584708"/>
                  <a:pt x="2452624" y="606171"/>
                  <a:pt x="2426208" y="606171"/>
                </a:cubicBezTo>
                <a:lnTo>
                  <a:pt x="47879" y="606171"/>
                </a:lnTo>
                <a:cubicBezTo>
                  <a:pt x="21463" y="606044"/>
                  <a:pt x="0" y="584708"/>
                  <a:pt x="0" y="558292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"/>
          <p:cNvSpPr txBox="1"/>
          <p:nvPr/>
        </p:nvSpPr>
        <p:spPr>
          <a:xfrm>
            <a:off x="1260043" y="1110967"/>
            <a:ext cx="2411654" cy="265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1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METODOLOGÍA</a:t>
            </a:r>
            <a:endParaRPr/>
          </a:p>
        </p:txBody>
      </p:sp>
      <p:sp>
        <p:nvSpPr>
          <p:cNvPr id="239" name="Google Shape;239;p7"/>
          <p:cNvSpPr txBox="1"/>
          <p:nvPr/>
        </p:nvSpPr>
        <p:spPr>
          <a:xfrm>
            <a:off x="1080564" y="1563186"/>
            <a:ext cx="16140713" cy="86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32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Marco Ágil Scrum</a:t>
            </a:r>
            <a:endParaRPr/>
          </a:p>
        </p:txBody>
      </p:sp>
      <p:sp>
        <p:nvSpPr>
          <p:cNvPr id="240" name="Google Shape;240;p7"/>
          <p:cNvSpPr txBox="1"/>
          <p:nvPr/>
        </p:nvSpPr>
        <p:spPr>
          <a:xfrm>
            <a:off x="1080564" y="3416351"/>
            <a:ext cx="4797085" cy="434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47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27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Sprint Planning</a:t>
            </a:r>
            <a:endParaRPr/>
          </a:p>
        </p:txBody>
      </p:sp>
      <p:sp>
        <p:nvSpPr>
          <p:cNvPr id="241" name="Google Shape;241;p7"/>
          <p:cNvSpPr txBox="1"/>
          <p:nvPr/>
        </p:nvSpPr>
        <p:spPr>
          <a:xfrm>
            <a:off x="1080564" y="3957809"/>
            <a:ext cx="4797085" cy="949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76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26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Selección de historias del backlog y definición del objetivo del sprint.</a:t>
            </a:r>
            <a:endParaRPr/>
          </a:p>
        </p:txBody>
      </p:sp>
      <p:sp>
        <p:nvSpPr>
          <p:cNvPr descr="preencoded.png" id="242" name="Google Shape;242;p7"/>
          <p:cNvSpPr/>
          <p:nvPr/>
        </p:nvSpPr>
        <p:spPr>
          <a:xfrm>
            <a:off x="6326257" y="2866587"/>
            <a:ext cx="5649183" cy="5649278"/>
          </a:xfrm>
          <a:custGeom>
            <a:rect b="b" l="l" r="r" t="t"/>
            <a:pathLst>
              <a:path extrusionOk="0" h="7532370" w="7532243">
                <a:moveTo>
                  <a:pt x="0" y="0"/>
                </a:moveTo>
                <a:lnTo>
                  <a:pt x="7532243" y="0"/>
                </a:lnTo>
                <a:lnTo>
                  <a:pt x="7532243" y="7532370"/>
                </a:lnTo>
                <a:lnTo>
                  <a:pt x="0" y="75323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" r="-1" t="0"/>
            </a:stretch>
          </a:blipFill>
          <a:ln>
            <a:noFill/>
          </a:ln>
        </p:spPr>
      </p:sp>
      <p:sp>
        <p:nvSpPr>
          <p:cNvPr descr="preencoded.png" id="243" name="Google Shape;243;p7"/>
          <p:cNvSpPr/>
          <p:nvPr/>
        </p:nvSpPr>
        <p:spPr>
          <a:xfrm>
            <a:off x="7790202" y="3849767"/>
            <a:ext cx="447418" cy="447427"/>
          </a:xfrm>
          <a:custGeom>
            <a:rect b="b" l="l" r="r" t="t"/>
            <a:pathLst>
              <a:path extrusionOk="0" h="447427" w="447418">
                <a:moveTo>
                  <a:pt x="0" y="0"/>
                </a:moveTo>
                <a:lnTo>
                  <a:pt x="447418" y="0"/>
                </a:lnTo>
                <a:lnTo>
                  <a:pt x="447418" y="447427"/>
                </a:lnTo>
                <a:lnTo>
                  <a:pt x="0" y="4474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5954" l="0" r="0" t="-15954"/>
            </a:stretch>
          </a:blipFill>
          <a:ln>
            <a:noFill/>
          </a:ln>
        </p:spPr>
      </p:sp>
      <p:sp>
        <p:nvSpPr>
          <p:cNvPr id="244" name="Google Shape;244;p7"/>
          <p:cNvSpPr txBox="1"/>
          <p:nvPr/>
        </p:nvSpPr>
        <p:spPr>
          <a:xfrm>
            <a:off x="12424039" y="3416351"/>
            <a:ext cx="4797238" cy="434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27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Desarrollo Iterativo</a:t>
            </a:r>
            <a:endParaRPr/>
          </a:p>
        </p:txBody>
      </p:sp>
      <p:sp>
        <p:nvSpPr>
          <p:cNvPr id="245" name="Google Shape;245;p7"/>
          <p:cNvSpPr txBox="1"/>
          <p:nvPr/>
        </p:nvSpPr>
        <p:spPr>
          <a:xfrm>
            <a:off x="12424039" y="3957809"/>
            <a:ext cx="4797238" cy="949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76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26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Construcción de incrementos funcionales con DoD aplicada.</a:t>
            </a:r>
            <a:endParaRPr/>
          </a:p>
        </p:txBody>
      </p:sp>
      <p:sp>
        <p:nvSpPr>
          <p:cNvPr descr="preencoded.png" id="246" name="Google Shape;246;p7"/>
          <p:cNvSpPr/>
          <p:nvPr/>
        </p:nvSpPr>
        <p:spPr>
          <a:xfrm>
            <a:off x="6326257" y="2866587"/>
            <a:ext cx="5649183" cy="5649278"/>
          </a:xfrm>
          <a:custGeom>
            <a:rect b="b" l="l" r="r" t="t"/>
            <a:pathLst>
              <a:path extrusionOk="0" h="7532370" w="7532243">
                <a:moveTo>
                  <a:pt x="0" y="0"/>
                </a:moveTo>
                <a:lnTo>
                  <a:pt x="7532243" y="0"/>
                </a:lnTo>
                <a:lnTo>
                  <a:pt x="7532243" y="7532370"/>
                </a:lnTo>
                <a:lnTo>
                  <a:pt x="0" y="75323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1" r="-1" t="0"/>
            </a:stretch>
          </a:blipFill>
          <a:ln>
            <a:noFill/>
          </a:ln>
        </p:spPr>
      </p:sp>
      <p:sp>
        <p:nvSpPr>
          <p:cNvPr descr="preencoded.png" id="247" name="Google Shape;247;p7"/>
          <p:cNvSpPr/>
          <p:nvPr/>
        </p:nvSpPr>
        <p:spPr>
          <a:xfrm>
            <a:off x="10544708" y="4330560"/>
            <a:ext cx="447418" cy="447427"/>
          </a:xfrm>
          <a:custGeom>
            <a:rect b="b" l="l" r="r" t="t"/>
            <a:pathLst>
              <a:path extrusionOk="0" h="447427" w="447418">
                <a:moveTo>
                  <a:pt x="0" y="0"/>
                </a:moveTo>
                <a:lnTo>
                  <a:pt x="447418" y="0"/>
                </a:lnTo>
                <a:lnTo>
                  <a:pt x="447418" y="447428"/>
                </a:lnTo>
                <a:lnTo>
                  <a:pt x="0" y="4474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15958" r="-15959" t="0"/>
            </a:stretch>
          </a:blipFill>
          <a:ln>
            <a:noFill/>
          </a:ln>
        </p:spPr>
      </p:sp>
      <p:sp>
        <p:nvSpPr>
          <p:cNvPr id="248" name="Google Shape;248;p7"/>
          <p:cNvSpPr txBox="1"/>
          <p:nvPr/>
        </p:nvSpPr>
        <p:spPr>
          <a:xfrm>
            <a:off x="12424039" y="6465389"/>
            <a:ext cx="4797238" cy="434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27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Sprint Review</a:t>
            </a:r>
            <a:endParaRPr/>
          </a:p>
        </p:txBody>
      </p:sp>
      <p:sp>
        <p:nvSpPr>
          <p:cNvPr id="249" name="Google Shape;249;p7"/>
          <p:cNvSpPr txBox="1"/>
          <p:nvPr/>
        </p:nvSpPr>
        <p:spPr>
          <a:xfrm>
            <a:off x="12424039" y="7006847"/>
            <a:ext cx="4797238" cy="949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76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26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Presentación del incremento a stakeholders y docente guía.</a:t>
            </a:r>
            <a:endParaRPr/>
          </a:p>
        </p:txBody>
      </p:sp>
      <p:sp>
        <p:nvSpPr>
          <p:cNvPr descr="preencoded.png" id="250" name="Google Shape;250;p7"/>
          <p:cNvSpPr/>
          <p:nvPr/>
        </p:nvSpPr>
        <p:spPr>
          <a:xfrm>
            <a:off x="6326257" y="2866587"/>
            <a:ext cx="5649183" cy="5649278"/>
          </a:xfrm>
          <a:custGeom>
            <a:rect b="b" l="l" r="r" t="t"/>
            <a:pathLst>
              <a:path extrusionOk="0" h="7532370" w="7532243">
                <a:moveTo>
                  <a:pt x="0" y="0"/>
                </a:moveTo>
                <a:lnTo>
                  <a:pt x="7532243" y="0"/>
                </a:lnTo>
                <a:lnTo>
                  <a:pt x="7532243" y="7532370"/>
                </a:lnTo>
                <a:lnTo>
                  <a:pt x="0" y="75323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1" r="-1" t="0"/>
            </a:stretch>
          </a:blipFill>
          <a:ln>
            <a:noFill/>
          </a:ln>
        </p:spPr>
      </p:sp>
      <p:sp>
        <p:nvSpPr>
          <p:cNvPr descr="preencoded.png" id="251" name="Google Shape;251;p7"/>
          <p:cNvSpPr/>
          <p:nvPr/>
        </p:nvSpPr>
        <p:spPr>
          <a:xfrm>
            <a:off x="10063924" y="7085143"/>
            <a:ext cx="447418" cy="447427"/>
          </a:xfrm>
          <a:custGeom>
            <a:rect b="b" l="l" r="r" t="t"/>
            <a:pathLst>
              <a:path extrusionOk="0" h="447427" w="447418">
                <a:moveTo>
                  <a:pt x="0" y="0"/>
                </a:moveTo>
                <a:lnTo>
                  <a:pt x="447418" y="0"/>
                </a:lnTo>
                <a:lnTo>
                  <a:pt x="447418" y="447427"/>
                </a:lnTo>
                <a:lnTo>
                  <a:pt x="0" y="4474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-5320" r="-5320" t="0"/>
            </a:stretch>
          </a:blipFill>
          <a:ln>
            <a:noFill/>
          </a:ln>
        </p:spPr>
      </p:sp>
      <p:sp>
        <p:nvSpPr>
          <p:cNvPr id="252" name="Google Shape;252;p7"/>
          <p:cNvSpPr txBox="1"/>
          <p:nvPr/>
        </p:nvSpPr>
        <p:spPr>
          <a:xfrm>
            <a:off x="1080564" y="6465389"/>
            <a:ext cx="4797085" cy="434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47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27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Retrospectiva</a:t>
            </a:r>
            <a:endParaRPr/>
          </a:p>
        </p:txBody>
      </p:sp>
      <p:sp>
        <p:nvSpPr>
          <p:cNvPr id="253" name="Google Shape;253;p7"/>
          <p:cNvSpPr txBox="1"/>
          <p:nvPr/>
        </p:nvSpPr>
        <p:spPr>
          <a:xfrm>
            <a:off x="1080564" y="7006847"/>
            <a:ext cx="4797085" cy="949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76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26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Análisis grupal para identificar mejoras en el siguiente ciclo.</a:t>
            </a:r>
            <a:endParaRPr/>
          </a:p>
        </p:txBody>
      </p:sp>
      <p:sp>
        <p:nvSpPr>
          <p:cNvPr descr="preencoded.png" id="254" name="Google Shape;254;p7"/>
          <p:cNvSpPr/>
          <p:nvPr/>
        </p:nvSpPr>
        <p:spPr>
          <a:xfrm>
            <a:off x="6326257" y="2866587"/>
            <a:ext cx="5649183" cy="5649278"/>
          </a:xfrm>
          <a:custGeom>
            <a:rect b="b" l="l" r="r" t="t"/>
            <a:pathLst>
              <a:path extrusionOk="0" h="7532370" w="7532243">
                <a:moveTo>
                  <a:pt x="0" y="0"/>
                </a:moveTo>
                <a:lnTo>
                  <a:pt x="7532243" y="0"/>
                </a:lnTo>
                <a:lnTo>
                  <a:pt x="7532243" y="7532370"/>
                </a:lnTo>
                <a:lnTo>
                  <a:pt x="0" y="75323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-1" r="-1" t="0"/>
            </a:stretch>
          </a:blipFill>
          <a:ln>
            <a:noFill/>
          </a:ln>
        </p:spPr>
      </p:sp>
      <p:sp>
        <p:nvSpPr>
          <p:cNvPr descr="preencoded.png" id="255" name="Google Shape;255;p7"/>
          <p:cNvSpPr/>
          <p:nvPr/>
        </p:nvSpPr>
        <p:spPr>
          <a:xfrm>
            <a:off x="7309418" y="6604349"/>
            <a:ext cx="447418" cy="447427"/>
          </a:xfrm>
          <a:custGeom>
            <a:rect b="b" l="l" r="r" t="t"/>
            <a:pathLst>
              <a:path extrusionOk="0" h="447427" w="447418">
                <a:moveTo>
                  <a:pt x="0" y="0"/>
                </a:moveTo>
                <a:lnTo>
                  <a:pt x="447418" y="0"/>
                </a:lnTo>
                <a:lnTo>
                  <a:pt x="447418" y="447428"/>
                </a:lnTo>
                <a:lnTo>
                  <a:pt x="0" y="4474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-32974" l="0" r="0" t="-32976"/>
            </a:stretch>
          </a:blipFill>
          <a:ln>
            <a:noFill/>
          </a:ln>
        </p:spPr>
      </p:sp>
      <p:sp>
        <p:nvSpPr>
          <p:cNvPr id="256" name="Google Shape;256;p7"/>
          <p:cNvSpPr txBox="1"/>
          <p:nvPr/>
        </p:nvSpPr>
        <p:spPr>
          <a:xfrm>
            <a:off x="1080564" y="8775116"/>
            <a:ext cx="17055798" cy="5081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76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26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Ciclos quincenales con artefactos formales: Product Vision, Backlog priorizado, Definition of Done y documentación técnica viva.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8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81A1B"/>
          </a:solidFill>
          <a:ln>
            <a:noFill/>
          </a:ln>
        </p:spPr>
      </p:sp>
      <p:sp>
        <p:nvSpPr>
          <p:cNvPr id="266" name="Google Shape;266;p8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11213"/>
          </a:solidFill>
          <a:ln>
            <a:noFill/>
          </a:ln>
        </p:spPr>
      </p:sp>
      <p:sp>
        <p:nvSpPr>
          <p:cNvPr id="267" name="Google Shape;267;p8"/>
          <p:cNvSpPr/>
          <p:nvPr/>
        </p:nvSpPr>
        <p:spPr>
          <a:xfrm>
            <a:off x="1080564" y="1172194"/>
            <a:ext cx="1192435" cy="469011"/>
          </a:xfrm>
          <a:custGeom>
            <a:rect b="b" l="l" r="r" t="t"/>
            <a:pathLst>
              <a:path extrusionOk="0" h="625348" w="1589913">
                <a:moveTo>
                  <a:pt x="0" y="49403"/>
                </a:moveTo>
                <a:cubicBezTo>
                  <a:pt x="0" y="22098"/>
                  <a:pt x="22098" y="0"/>
                  <a:pt x="49403" y="0"/>
                </a:cubicBezTo>
                <a:lnTo>
                  <a:pt x="1540510" y="0"/>
                </a:lnTo>
                <a:cubicBezTo>
                  <a:pt x="1567815" y="0"/>
                  <a:pt x="1589913" y="22098"/>
                  <a:pt x="1589913" y="49403"/>
                </a:cubicBezTo>
                <a:lnTo>
                  <a:pt x="1589913" y="575945"/>
                </a:lnTo>
                <a:cubicBezTo>
                  <a:pt x="1589913" y="603250"/>
                  <a:pt x="1567815" y="625348"/>
                  <a:pt x="1540510" y="625348"/>
                </a:cubicBezTo>
                <a:lnTo>
                  <a:pt x="49403" y="625348"/>
                </a:lnTo>
                <a:cubicBezTo>
                  <a:pt x="22098" y="625348"/>
                  <a:pt x="0" y="603250"/>
                  <a:pt x="0" y="575945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8"/>
          <p:cNvSpPr txBox="1"/>
          <p:nvPr/>
        </p:nvSpPr>
        <p:spPr>
          <a:xfrm>
            <a:off x="1265701" y="1274216"/>
            <a:ext cx="1737246" cy="2745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1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EQUIPO</a:t>
            </a:r>
            <a:endParaRPr/>
          </a:p>
        </p:txBody>
      </p:sp>
      <p:sp>
        <p:nvSpPr>
          <p:cNvPr id="269" name="Google Shape;269;p8"/>
          <p:cNvSpPr txBox="1"/>
          <p:nvPr/>
        </p:nvSpPr>
        <p:spPr>
          <a:xfrm>
            <a:off x="1080564" y="1736122"/>
            <a:ext cx="16140713" cy="905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7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Roles Scrum y Responsabilidades</a:t>
            </a:r>
            <a:endParaRPr/>
          </a:p>
        </p:txBody>
      </p:sp>
      <p:sp>
        <p:nvSpPr>
          <p:cNvPr descr="preencoded.png" id="270" name="Google Shape;270;p8"/>
          <p:cNvSpPr/>
          <p:nvPr/>
        </p:nvSpPr>
        <p:spPr>
          <a:xfrm>
            <a:off x="1080564" y="3105045"/>
            <a:ext cx="2254091" cy="2254091"/>
          </a:xfrm>
          <a:custGeom>
            <a:rect b="b" l="l" r="r" t="t"/>
            <a:pathLst>
              <a:path extrusionOk="0" h="3005455" w="3005455">
                <a:moveTo>
                  <a:pt x="0" y="0"/>
                </a:moveTo>
                <a:lnTo>
                  <a:pt x="3005455" y="0"/>
                </a:lnTo>
                <a:lnTo>
                  <a:pt x="3005455" y="3005455"/>
                </a:lnTo>
                <a:lnTo>
                  <a:pt x="0" y="30054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" l="-1" r="0" t="0"/>
            </a:stretch>
          </a:blipFill>
          <a:ln>
            <a:noFill/>
          </a:ln>
        </p:spPr>
      </p:sp>
      <p:sp>
        <p:nvSpPr>
          <p:cNvPr id="271" name="Google Shape;271;p8"/>
          <p:cNvSpPr txBox="1"/>
          <p:nvPr/>
        </p:nvSpPr>
        <p:spPr>
          <a:xfrm>
            <a:off x="1080564" y="5735564"/>
            <a:ext cx="5122964" cy="886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2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Joaquín Riquelme — Product Owner</a:t>
            </a:r>
            <a:endParaRPr/>
          </a:p>
        </p:txBody>
      </p:sp>
      <p:sp>
        <p:nvSpPr>
          <p:cNvPr id="272" name="Google Shape;272;p8"/>
          <p:cNvSpPr txBox="1"/>
          <p:nvPr/>
        </p:nvSpPr>
        <p:spPr>
          <a:xfrm>
            <a:off x="1080564" y="6731308"/>
            <a:ext cx="5122964" cy="2391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1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Maximiza el valor del producto. Gestiona el backlog, define criterios de aceptación y valida incrementos. Lidera arquitectura backend y modelamiento de datos.</a:t>
            </a:r>
            <a:endParaRPr/>
          </a:p>
        </p:txBody>
      </p:sp>
      <p:sp>
        <p:nvSpPr>
          <p:cNvPr descr="preencoded.png" id="273" name="Google Shape;273;p8"/>
          <p:cNvSpPr/>
          <p:nvPr/>
        </p:nvSpPr>
        <p:spPr>
          <a:xfrm>
            <a:off x="6589433" y="3105045"/>
            <a:ext cx="2254091" cy="2254091"/>
          </a:xfrm>
          <a:custGeom>
            <a:rect b="b" l="l" r="r" t="t"/>
            <a:pathLst>
              <a:path extrusionOk="0" h="3005455" w="3005455">
                <a:moveTo>
                  <a:pt x="0" y="0"/>
                </a:moveTo>
                <a:lnTo>
                  <a:pt x="3005455" y="0"/>
                </a:lnTo>
                <a:lnTo>
                  <a:pt x="3005455" y="3005455"/>
                </a:lnTo>
                <a:lnTo>
                  <a:pt x="0" y="30054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" l="-1" r="0" t="0"/>
            </a:stretch>
          </a:blipFill>
          <a:ln>
            <a:noFill/>
          </a:ln>
        </p:spPr>
      </p:sp>
      <p:sp>
        <p:nvSpPr>
          <p:cNvPr id="274" name="Google Shape;274;p8"/>
          <p:cNvSpPr txBox="1"/>
          <p:nvPr/>
        </p:nvSpPr>
        <p:spPr>
          <a:xfrm>
            <a:off x="6589433" y="5735564"/>
            <a:ext cx="5122964" cy="886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2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Diego Alcaino — Scrum Master</a:t>
            </a:r>
            <a:endParaRPr/>
          </a:p>
        </p:txBody>
      </p:sp>
      <p:sp>
        <p:nvSpPr>
          <p:cNvPr id="275" name="Google Shape;275;p8"/>
          <p:cNvSpPr txBox="1"/>
          <p:nvPr/>
        </p:nvSpPr>
        <p:spPr>
          <a:xfrm>
            <a:off x="6589433" y="6731308"/>
            <a:ext cx="5122964" cy="1928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1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Facilita ceremonias ágiles, remueve impedimentos y vela por la DoD. Coordina frontend, UX y documentación técnica del proyecto.</a:t>
            </a:r>
            <a:endParaRPr/>
          </a:p>
        </p:txBody>
      </p:sp>
      <p:sp>
        <p:nvSpPr>
          <p:cNvPr descr="preencoded.png" id="276" name="Google Shape;276;p8"/>
          <p:cNvSpPr/>
          <p:nvPr/>
        </p:nvSpPr>
        <p:spPr>
          <a:xfrm>
            <a:off x="12098312" y="3105045"/>
            <a:ext cx="2254091" cy="2254091"/>
          </a:xfrm>
          <a:custGeom>
            <a:rect b="b" l="l" r="r" t="t"/>
            <a:pathLst>
              <a:path extrusionOk="0" h="3005455" w="3005455">
                <a:moveTo>
                  <a:pt x="0" y="0"/>
                </a:moveTo>
                <a:lnTo>
                  <a:pt x="3005455" y="0"/>
                </a:lnTo>
                <a:lnTo>
                  <a:pt x="3005455" y="3005455"/>
                </a:lnTo>
                <a:lnTo>
                  <a:pt x="0" y="30054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" l="-1" r="0" t="0"/>
            </a:stretch>
          </a:blipFill>
          <a:ln>
            <a:noFill/>
          </a:ln>
        </p:spPr>
      </p:sp>
      <p:sp>
        <p:nvSpPr>
          <p:cNvPr id="277" name="Google Shape;277;p8"/>
          <p:cNvSpPr txBox="1"/>
          <p:nvPr/>
        </p:nvSpPr>
        <p:spPr>
          <a:xfrm>
            <a:off x="12098312" y="5735564"/>
            <a:ext cx="5122964" cy="886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2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Ignacio Troncoso — Developer</a:t>
            </a:r>
            <a:endParaRPr/>
          </a:p>
        </p:txBody>
      </p:sp>
      <p:sp>
        <p:nvSpPr>
          <p:cNvPr id="278" name="Google Shape;278;p8"/>
          <p:cNvSpPr txBox="1"/>
          <p:nvPr/>
        </p:nvSpPr>
        <p:spPr>
          <a:xfrm>
            <a:off x="12098312" y="6731308"/>
            <a:ext cx="5122964" cy="1928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1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Diseña y codifica componentes técnicos. Lidera desarrollo frontend Web, aplicación de escritorio PySide6 y gestión de infraestructura Docker.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9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81A1B"/>
          </a:solidFill>
          <a:ln>
            <a:noFill/>
          </a:ln>
        </p:spPr>
      </p:sp>
      <p:sp>
        <p:nvSpPr>
          <p:cNvPr id="288" name="Google Shape;288;p9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11213"/>
          </a:solidFill>
          <a:ln>
            <a:noFill/>
          </a:ln>
        </p:spPr>
      </p:sp>
      <p:sp>
        <p:nvSpPr>
          <p:cNvPr id="289" name="Google Shape;289;p9"/>
          <p:cNvSpPr/>
          <p:nvPr/>
        </p:nvSpPr>
        <p:spPr>
          <a:xfrm>
            <a:off x="1080564" y="876538"/>
            <a:ext cx="1811274" cy="373857"/>
          </a:xfrm>
          <a:custGeom>
            <a:rect b="b" l="l" r="r" t="t"/>
            <a:pathLst>
              <a:path extrusionOk="0" h="498475" w="2415032">
                <a:moveTo>
                  <a:pt x="0" y="39370"/>
                </a:moveTo>
                <a:cubicBezTo>
                  <a:pt x="0" y="17653"/>
                  <a:pt x="17653" y="0"/>
                  <a:pt x="39370" y="0"/>
                </a:cubicBezTo>
                <a:lnTo>
                  <a:pt x="2375662" y="0"/>
                </a:lnTo>
                <a:cubicBezTo>
                  <a:pt x="2397379" y="0"/>
                  <a:pt x="2415032" y="17653"/>
                  <a:pt x="2415032" y="39370"/>
                </a:cubicBezTo>
                <a:lnTo>
                  <a:pt x="2415032" y="459105"/>
                </a:lnTo>
                <a:cubicBezTo>
                  <a:pt x="2415032" y="480822"/>
                  <a:pt x="2397379" y="498475"/>
                  <a:pt x="2375662" y="498475"/>
                </a:cubicBezTo>
                <a:lnTo>
                  <a:pt x="39370" y="498475"/>
                </a:lnTo>
                <a:cubicBezTo>
                  <a:pt x="17653" y="498475"/>
                  <a:pt x="0" y="480822"/>
                  <a:pt x="0" y="459105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9"/>
          <p:cNvSpPr txBox="1"/>
          <p:nvPr/>
        </p:nvSpPr>
        <p:spPr>
          <a:xfrm>
            <a:off x="1228163" y="959796"/>
            <a:ext cx="2431161" cy="21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1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1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PLAN DE TRABAJO</a:t>
            </a:r>
            <a:endParaRPr/>
          </a:p>
        </p:txBody>
      </p:sp>
      <p:sp>
        <p:nvSpPr>
          <p:cNvPr id="291" name="Google Shape;291;p9"/>
          <p:cNvSpPr txBox="1"/>
          <p:nvPr/>
        </p:nvSpPr>
        <p:spPr>
          <a:xfrm>
            <a:off x="1080564" y="1309688"/>
            <a:ext cx="16140713" cy="718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Cronograma en 18 Semanas</a:t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9136618" y="2321747"/>
            <a:ext cx="28575" cy="7096792"/>
          </a:xfrm>
          <a:custGeom>
            <a:rect b="b" l="l" r="r" t="t"/>
            <a:pathLst>
              <a:path extrusionOk="0" h="9462389" w="38100">
                <a:moveTo>
                  <a:pt x="0" y="19050"/>
                </a:moveTo>
                <a:cubicBezTo>
                  <a:pt x="0" y="8509"/>
                  <a:pt x="8509" y="0"/>
                  <a:pt x="19050" y="0"/>
                </a:cubicBezTo>
                <a:cubicBezTo>
                  <a:pt x="29591" y="0"/>
                  <a:pt x="38100" y="8509"/>
                  <a:pt x="38100" y="19050"/>
                </a:cubicBezTo>
                <a:lnTo>
                  <a:pt x="38100" y="9443339"/>
                </a:lnTo>
                <a:cubicBezTo>
                  <a:pt x="38100" y="9453880"/>
                  <a:pt x="29591" y="9462389"/>
                  <a:pt x="19050" y="9462389"/>
                </a:cubicBezTo>
                <a:cubicBezTo>
                  <a:pt x="8509" y="9462389"/>
                  <a:pt x="0" y="9453880"/>
                  <a:pt x="0" y="9443339"/>
                </a:cubicBezTo>
                <a:close/>
              </a:path>
            </a:pathLst>
          </a:custGeom>
          <a:solidFill>
            <a:srgbClr val="494A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"/>
          <p:cNvSpPr/>
          <p:nvPr/>
        </p:nvSpPr>
        <p:spPr>
          <a:xfrm>
            <a:off x="8164563" y="2584190"/>
            <a:ext cx="738092" cy="28575"/>
          </a:xfrm>
          <a:custGeom>
            <a:rect b="b" l="l" r="r" t="t"/>
            <a:pathLst>
              <a:path extrusionOk="0" h="38100" w="984123">
                <a:moveTo>
                  <a:pt x="0" y="19050"/>
                </a:moveTo>
                <a:cubicBezTo>
                  <a:pt x="0" y="8509"/>
                  <a:pt x="8509" y="0"/>
                  <a:pt x="19050" y="0"/>
                </a:cubicBezTo>
                <a:lnTo>
                  <a:pt x="965073" y="0"/>
                </a:lnTo>
                <a:cubicBezTo>
                  <a:pt x="975614" y="0"/>
                  <a:pt x="984123" y="8509"/>
                  <a:pt x="984123" y="19050"/>
                </a:cubicBezTo>
                <a:cubicBezTo>
                  <a:pt x="984123" y="29591"/>
                  <a:pt x="975614" y="38100"/>
                  <a:pt x="965073" y="38100"/>
                </a:cubicBezTo>
                <a:lnTo>
                  <a:pt x="19050" y="38100"/>
                </a:lnTo>
                <a:cubicBezTo>
                  <a:pt x="8509" y="38100"/>
                  <a:pt x="0" y="29591"/>
                  <a:pt x="0" y="19050"/>
                </a:cubicBezTo>
                <a:close/>
              </a:path>
            </a:pathLst>
          </a:custGeom>
          <a:solidFill>
            <a:srgbClr val="494A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9"/>
          <p:cNvSpPr/>
          <p:nvPr/>
        </p:nvSpPr>
        <p:spPr>
          <a:xfrm>
            <a:off x="8874119" y="2321747"/>
            <a:ext cx="553689" cy="553688"/>
          </a:xfrm>
          <a:custGeom>
            <a:rect b="b" l="l" r="r" t="t"/>
            <a:pathLst>
              <a:path extrusionOk="0" h="738251" w="738251">
                <a:moveTo>
                  <a:pt x="0" y="49276"/>
                </a:moveTo>
                <a:cubicBezTo>
                  <a:pt x="0" y="21971"/>
                  <a:pt x="21971" y="0"/>
                  <a:pt x="49276" y="0"/>
                </a:cubicBezTo>
                <a:lnTo>
                  <a:pt x="688975" y="0"/>
                </a:lnTo>
                <a:cubicBezTo>
                  <a:pt x="716153" y="0"/>
                  <a:pt x="738251" y="21971"/>
                  <a:pt x="738251" y="49276"/>
                </a:cubicBezTo>
                <a:lnTo>
                  <a:pt x="738251" y="688975"/>
                </a:lnTo>
                <a:cubicBezTo>
                  <a:pt x="738251" y="716153"/>
                  <a:pt x="716280" y="738251"/>
                  <a:pt x="688975" y="738251"/>
                </a:cubicBezTo>
                <a:lnTo>
                  <a:pt x="49276" y="738251"/>
                </a:lnTo>
                <a:cubicBezTo>
                  <a:pt x="21971" y="738124"/>
                  <a:pt x="0" y="716153"/>
                  <a:pt x="0" y="688975"/>
                </a:cubicBezTo>
                <a:close/>
              </a:path>
            </a:pathLst>
          </a:cu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5" name="Google Shape;295;p9"/>
          <p:cNvGrpSpPr/>
          <p:nvPr/>
        </p:nvGrpSpPr>
        <p:grpSpPr>
          <a:xfrm>
            <a:off x="8983142" y="2388851"/>
            <a:ext cx="335414" cy="419281"/>
            <a:chOff x="0" y="0"/>
            <a:chExt cx="447219" cy="559041"/>
          </a:xfrm>
        </p:grpSpPr>
        <p:sp>
          <p:nvSpPr>
            <p:cNvPr id="296" name="Google Shape;296;p9"/>
            <p:cNvSpPr/>
            <p:nvPr/>
          </p:nvSpPr>
          <p:spPr>
            <a:xfrm>
              <a:off x="0" y="0"/>
              <a:ext cx="447219" cy="559039"/>
            </a:xfrm>
            <a:custGeom>
              <a:rect b="b" l="l" r="r" t="t"/>
              <a:pathLst>
                <a:path extrusionOk="0" h="559039" w="447219">
                  <a:moveTo>
                    <a:pt x="0" y="0"/>
                  </a:moveTo>
                  <a:lnTo>
                    <a:pt x="447219" y="0"/>
                  </a:lnTo>
                  <a:lnTo>
                    <a:pt x="447219" y="559039"/>
                  </a:lnTo>
                  <a:lnTo>
                    <a:pt x="0" y="55903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10380" r="-110380" t="0"/>
              </a:stretch>
            </a:blipFill>
            <a:ln>
              <a:noFill/>
            </a:ln>
          </p:spPr>
        </p:sp>
        <p:sp>
          <p:nvSpPr>
            <p:cNvPr id="297" name="Google Shape;297;p9"/>
            <p:cNvSpPr txBox="1"/>
            <p:nvPr/>
          </p:nvSpPr>
          <p:spPr>
            <a:xfrm>
              <a:off x="0" y="0"/>
              <a:ext cx="447218" cy="559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27" u="none" cap="none" strike="noStrike">
                  <a:solidFill>
                    <a:srgbClr val="E2E6E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</a:t>
              </a:r>
              <a:endParaRPr/>
            </a:p>
          </p:txBody>
        </p:sp>
      </p:grpSp>
      <p:sp>
        <p:nvSpPr>
          <p:cNvPr id="298" name="Google Shape;298;p9"/>
          <p:cNvSpPr txBox="1"/>
          <p:nvPr/>
        </p:nvSpPr>
        <p:spPr>
          <a:xfrm>
            <a:off x="1080564" y="2396671"/>
            <a:ext cx="6840103" cy="35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48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76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S1–S4</a:t>
            </a:r>
            <a:endParaRPr/>
          </a:p>
        </p:txBody>
      </p:sp>
      <p:sp>
        <p:nvSpPr>
          <p:cNvPr id="299" name="Google Shape;299;p9"/>
          <p:cNvSpPr txBox="1"/>
          <p:nvPr/>
        </p:nvSpPr>
        <p:spPr>
          <a:xfrm>
            <a:off x="1080564" y="2844565"/>
            <a:ext cx="6840103" cy="360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4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Requerimientos, arquitectura base y prototipos UI/UX en Figma.</a:t>
            </a: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9399127" y="3960438"/>
            <a:ext cx="738092" cy="28575"/>
          </a:xfrm>
          <a:custGeom>
            <a:rect b="b" l="l" r="r" t="t"/>
            <a:pathLst>
              <a:path extrusionOk="0" h="38100" w="984123">
                <a:moveTo>
                  <a:pt x="0" y="19050"/>
                </a:moveTo>
                <a:cubicBezTo>
                  <a:pt x="0" y="8509"/>
                  <a:pt x="8509" y="0"/>
                  <a:pt x="19050" y="0"/>
                </a:cubicBezTo>
                <a:lnTo>
                  <a:pt x="965073" y="0"/>
                </a:lnTo>
                <a:cubicBezTo>
                  <a:pt x="975614" y="0"/>
                  <a:pt x="984123" y="8509"/>
                  <a:pt x="984123" y="19050"/>
                </a:cubicBezTo>
                <a:cubicBezTo>
                  <a:pt x="984123" y="29591"/>
                  <a:pt x="975614" y="38100"/>
                  <a:pt x="965073" y="38100"/>
                </a:cubicBezTo>
                <a:lnTo>
                  <a:pt x="19050" y="38100"/>
                </a:lnTo>
                <a:cubicBezTo>
                  <a:pt x="8509" y="38100"/>
                  <a:pt x="0" y="29591"/>
                  <a:pt x="0" y="19050"/>
                </a:cubicBezTo>
                <a:close/>
              </a:path>
            </a:pathLst>
          </a:custGeom>
          <a:solidFill>
            <a:srgbClr val="494A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9"/>
          <p:cNvSpPr/>
          <p:nvPr/>
        </p:nvSpPr>
        <p:spPr>
          <a:xfrm>
            <a:off x="8874119" y="3697996"/>
            <a:ext cx="553689" cy="553688"/>
          </a:xfrm>
          <a:custGeom>
            <a:rect b="b" l="l" r="r" t="t"/>
            <a:pathLst>
              <a:path extrusionOk="0" h="738251" w="738251">
                <a:moveTo>
                  <a:pt x="0" y="49276"/>
                </a:moveTo>
                <a:cubicBezTo>
                  <a:pt x="0" y="21971"/>
                  <a:pt x="21971" y="0"/>
                  <a:pt x="49276" y="0"/>
                </a:cubicBezTo>
                <a:lnTo>
                  <a:pt x="688975" y="0"/>
                </a:lnTo>
                <a:cubicBezTo>
                  <a:pt x="716153" y="0"/>
                  <a:pt x="738251" y="21971"/>
                  <a:pt x="738251" y="49276"/>
                </a:cubicBezTo>
                <a:lnTo>
                  <a:pt x="738251" y="688975"/>
                </a:lnTo>
                <a:cubicBezTo>
                  <a:pt x="738251" y="716153"/>
                  <a:pt x="716280" y="738251"/>
                  <a:pt x="688975" y="738251"/>
                </a:cubicBezTo>
                <a:lnTo>
                  <a:pt x="49276" y="738251"/>
                </a:lnTo>
                <a:cubicBezTo>
                  <a:pt x="21971" y="738124"/>
                  <a:pt x="0" y="716153"/>
                  <a:pt x="0" y="688975"/>
                </a:cubicBezTo>
                <a:close/>
              </a:path>
            </a:pathLst>
          </a:cu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2" name="Google Shape;302;p9"/>
          <p:cNvGrpSpPr/>
          <p:nvPr/>
        </p:nvGrpSpPr>
        <p:grpSpPr>
          <a:xfrm>
            <a:off x="8983142" y="3765090"/>
            <a:ext cx="335414" cy="419281"/>
            <a:chOff x="0" y="0"/>
            <a:chExt cx="447219" cy="559041"/>
          </a:xfrm>
        </p:grpSpPr>
        <p:sp>
          <p:nvSpPr>
            <p:cNvPr id="303" name="Google Shape;303;p9"/>
            <p:cNvSpPr/>
            <p:nvPr/>
          </p:nvSpPr>
          <p:spPr>
            <a:xfrm>
              <a:off x="0" y="0"/>
              <a:ext cx="447219" cy="559039"/>
            </a:xfrm>
            <a:custGeom>
              <a:rect b="b" l="l" r="r" t="t"/>
              <a:pathLst>
                <a:path extrusionOk="0" h="559039" w="447219">
                  <a:moveTo>
                    <a:pt x="0" y="0"/>
                  </a:moveTo>
                  <a:lnTo>
                    <a:pt x="447219" y="0"/>
                  </a:lnTo>
                  <a:lnTo>
                    <a:pt x="447219" y="559039"/>
                  </a:lnTo>
                  <a:lnTo>
                    <a:pt x="0" y="55903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10380" r="-110380" t="0"/>
              </a:stretch>
            </a:blipFill>
            <a:ln>
              <a:noFill/>
            </a:ln>
          </p:spPr>
        </p:sp>
        <p:sp>
          <p:nvSpPr>
            <p:cNvPr id="304" name="Google Shape;304;p9"/>
            <p:cNvSpPr txBox="1"/>
            <p:nvPr/>
          </p:nvSpPr>
          <p:spPr>
            <a:xfrm>
              <a:off x="0" y="0"/>
              <a:ext cx="447218" cy="559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27" u="none" cap="none" strike="noStrike">
                  <a:solidFill>
                    <a:srgbClr val="E2E6E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</a:t>
              </a:r>
              <a:endParaRPr/>
            </a:p>
          </p:txBody>
        </p:sp>
      </p:grpSp>
      <p:sp>
        <p:nvSpPr>
          <p:cNvPr id="305" name="Google Shape;305;p9"/>
          <p:cNvSpPr txBox="1"/>
          <p:nvPr/>
        </p:nvSpPr>
        <p:spPr>
          <a:xfrm>
            <a:off x="10381174" y="3772919"/>
            <a:ext cx="6840103" cy="35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76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S5–S8</a:t>
            </a:r>
            <a:endParaRPr/>
          </a:p>
        </p:txBody>
      </p:sp>
      <p:sp>
        <p:nvSpPr>
          <p:cNvPr id="306" name="Google Shape;306;p9"/>
          <p:cNvSpPr txBox="1"/>
          <p:nvPr/>
        </p:nvSpPr>
        <p:spPr>
          <a:xfrm>
            <a:off x="10381174" y="4220813"/>
            <a:ext cx="6840103" cy="691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Infraestructura Docker, repositorio GitHub y modelo de BD (30+ tablas).</a:t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8164563" y="5182819"/>
            <a:ext cx="738092" cy="28575"/>
          </a:xfrm>
          <a:custGeom>
            <a:rect b="b" l="l" r="r" t="t"/>
            <a:pathLst>
              <a:path extrusionOk="0" h="38100" w="984123">
                <a:moveTo>
                  <a:pt x="0" y="19050"/>
                </a:moveTo>
                <a:cubicBezTo>
                  <a:pt x="0" y="8509"/>
                  <a:pt x="8509" y="0"/>
                  <a:pt x="19050" y="0"/>
                </a:cubicBezTo>
                <a:lnTo>
                  <a:pt x="965073" y="0"/>
                </a:lnTo>
                <a:cubicBezTo>
                  <a:pt x="975614" y="0"/>
                  <a:pt x="984123" y="8509"/>
                  <a:pt x="984123" y="19050"/>
                </a:cubicBezTo>
                <a:cubicBezTo>
                  <a:pt x="984123" y="29591"/>
                  <a:pt x="975614" y="38100"/>
                  <a:pt x="965073" y="38100"/>
                </a:cubicBezTo>
                <a:lnTo>
                  <a:pt x="19050" y="38100"/>
                </a:lnTo>
                <a:cubicBezTo>
                  <a:pt x="8509" y="38100"/>
                  <a:pt x="0" y="29591"/>
                  <a:pt x="0" y="19050"/>
                </a:cubicBezTo>
                <a:close/>
              </a:path>
            </a:pathLst>
          </a:custGeom>
          <a:solidFill>
            <a:srgbClr val="494A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/>
          <p:nvPr/>
        </p:nvSpPr>
        <p:spPr>
          <a:xfrm>
            <a:off x="8874119" y="4920377"/>
            <a:ext cx="553689" cy="553688"/>
          </a:xfrm>
          <a:custGeom>
            <a:rect b="b" l="l" r="r" t="t"/>
            <a:pathLst>
              <a:path extrusionOk="0" h="738251" w="738251">
                <a:moveTo>
                  <a:pt x="0" y="49276"/>
                </a:moveTo>
                <a:cubicBezTo>
                  <a:pt x="0" y="21971"/>
                  <a:pt x="21971" y="0"/>
                  <a:pt x="49276" y="0"/>
                </a:cubicBezTo>
                <a:lnTo>
                  <a:pt x="688975" y="0"/>
                </a:lnTo>
                <a:cubicBezTo>
                  <a:pt x="716153" y="0"/>
                  <a:pt x="738251" y="21971"/>
                  <a:pt x="738251" y="49276"/>
                </a:cubicBezTo>
                <a:lnTo>
                  <a:pt x="738251" y="688975"/>
                </a:lnTo>
                <a:cubicBezTo>
                  <a:pt x="738251" y="716153"/>
                  <a:pt x="716280" y="738251"/>
                  <a:pt x="688975" y="738251"/>
                </a:cubicBezTo>
                <a:lnTo>
                  <a:pt x="49276" y="738251"/>
                </a:lnTo>
                <a:cubicBezTo>
                  <a:pt x="21971" y="738124"/>
                  <a:pt x="0" y="716153"/>
                  <a:pt x="0" y="688975"/>
                </a:cubicBezTo>
                <a:close/>
              </a:path>
            </a:pathLst>
          </a:cu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9" name="Google Shape;309;p9"/>
          <p:cNvGrpSpPr/>
          <p:nvPr/>
        </p:nvGrpSpPr>
        <p:grpSpPr>
          <a:xfrm>
            <a:off x="8983142" y="4987480"/>
            <a:ext cx="335414" cy="419281"/>
            <a:chOff x="0" y="0"/>
            <a:chExt cx="447219" cy="559041"/>
          </a:xfrm>
        </p:grpSpPr>
        <p:sp>
          <p:nvSpPr>
            <p:cNvPr id="310" name="Google Shape;310;p9"/>
            <p:cNvSpPr/>
            <p:nvPr/>
          </p:nvSpPr>
          <p:spPr>
            <a:xfrm>
              <a:off x="0" y="0"/>
              <a:ext cx="447219" cy="559039"/>
            </a:xfrm>
            <a:custGeom>
              <a:rect b="b" l="l" r="r" t="t"/>
              <a:pathLst>
                <a:path extrusionOk="0" h="559039" w="447219">
                  <a:moveTo>
                    <a:pt x="0" y="0"/>
                  </a:moveTo>
                  <a:lnTo>
                    <a:pt x="447219" y="0"/>
                  </a:lnTo>
                  <a:lnTo>
                    <a:pt x="447219" y="559039"/>
                  </a:lnTo>
                  <a:lnTo>
                    <a:pt x="0" y="55903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10380" r="-110380" t="0"/>
              </a:stretch>
            </a:blipFill>
            <a:ln>
              <a:noFill/>
            </a:ln>
          </p:spPr>
        </p:sp>
        <p:sp>
          <p:nvSpPr>
            <p:cNvPr id="311" name="Google Shape;311;p9"/>
            <p:cNvSpPr txBox="1"/>
            <p:nvPr/>
          </p:nvSpPr>
          <p:spPr>
            <a:xfrm>
              <a:off x="0" y="0"/>
              <a:ext cx="447218" cy="559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27" u="none" cap="none" strike="noStrike">
                  <a:solidFill>
                    <a:srgbClr val="E2E6E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</a:t>
              </a:r>
              <a:endParaRPr/>
            </a:p>
          </p:txBody>
        </p:sp>
      </p:grpSp>
      <p:sp>
        <p:nvSpPr>
          <p:cNvPr id="312" name="Google Shape;312;p9"/>
          <p:cNvSpPr txBox="1"/>
          <p:nvPr/>
        </p:nvSpPr>
        <p:spPr>
          <a:xfrm>
            <a:off x="1080564" y="4995310"/>
            <a:ext cx="6840103" cy="35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48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76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S7–S12</a:t>
            </a:r>
            <a:endParaRPr/>
          </a:p>
        </p:txBody>
      </p:sp>
      <p:sp>
        <p:nvSpPr>
          <p:cNvPr id="313" name="Google Shape;313;p9"/>
          <p:cNvSpPr txBox="1"/>
          <p:nvPr/>
        </p:nvSpPr>
        <p:spPr>
          <a:xfrm>
            <a:off x="1080564" y="5443195"/>
            <a:ext cx="6840103" cy="360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4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Plataforma Web Django y desarrollo de 5 APIs RESTful.</a:t>
            </a:r>
            <a:endParaRPr/>
          </a:p>
        </p:txBody>
      </p:sp>
      <p:sp>
        <p:nvSpPr>
          <p:cNvPr id="314" name="Google Shape;314;p9"/>
          <p:cNvSpPr/>
          <p:nvPr/>
        </p:nvSpPr>
        <p:spPr>
          <a:xfrm>
            <a:off x="9399127" y="6405353"/>
            <a:ext cx="738092" cy="28575"/>
          </a:xfrm>
          <a:custGeom>
            <a:rect b="b" l="l" r="r" t="t"/>
            <a:pathLst>
              <a:path extrusionOk="0" h="38100" w="984123">
                <a:moveTo>
                  <a:pt x="0" y="19050"/>
                </a:moveTo>
                <a:cubicBezTo>
                  <a:pt x="0" y="8509"/>
                  <a:pt x="8509" y="0"/>
                  <a:pt x="19050" y="0"/>
                </a:cubicBezTo>
                <a:lnTo>
                  <a:pt x="965073" y="0"/>
                </a:lnTo>
                <a:cubicBezTo>
                  <a:pt x="975614" y="0"/>
                  <a:pt x="984123" y="8509"/>
                  <a:pt x="984123" y="19050"/>
                </a:cubicBezTo>
                <a:cubicBezTo>
                  <a:pt x="984123" y="29591"/>
                  <a:pt x="975614" y="38100"/>
                  <a:pt x="965073" y="38100"/>
                </a:cubicBezTo>
                <a:lnTo>
                  <a:pt x="19050" y="38100"/>
                </a:lnTo>
                <a:cubicBezTo>
                  <a:pt x="8509" y="38100"/>
                  <a:pt x="0" y="29591"/>
                  <a:pt x="0" y="19050"/>
                </a:cubicBezTo>
                <a:close/>
              </a:path>
            </a:pathLst>
          </a:custGeom>
          <a:solidFill>
            <a:srgbClr val="494A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8874119" y="6142920"/>
            <a:ext cx="553689" cy="553688"/>
          </a:xfrm>
          <a:custGeom>
            <a:rect b="b" l="l" r="r" t="t"/>
            <a:pathLst>
              <a:path extrusionOk="0" h="738251" w="738251">
                <a:moveTo>
                  <a:pt x="0" y="49276"/>
                </a:moveTo>
                <a:cubicBezTo>
                  <a:pt x="0" y="21971"/>
                  <a:pt x="21971" y="0"/>
                  <a:pt x="49276" y="0"/>
                </a:cubicBezTo>
                <a:lnTo>
                  <a:pt x="688975" y="0"/>
                </a:lnTo>
                <a:cubicBezTo>
                  <a:pt x="716153" y="0"/>
                  <a:pt x="738251" y="21971"/>
                  <a:pt x="738251" y="49276"/>
                </a:cubicBezTo>
                <a:lnTo>
                  <a:pt x="738251" y="688975"/>
                </a:lnTo>
                <a:cubicBezTo>
                  <a:pt x="738251" y="716153"/>
                  <a:pt x="716280" y="738251"/>
                  <a:pt x="688975" y="738251"/>
                </a:cubicBezTo>
                <a:lnTo>
                  <a:pt x="49276" y="738251"/>
                </a:lnTo>
                <a:cubicBezTo>
                  <a:pt x="21971" y="738124"/>
                  <a:pt x="0" y="716153"/>
                  <a:pt x="0" y="688975"/>
                </a:cubicBezTo>
                <a:close/>
              </a:path>
            </a:pathLst>
          </a:cu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6" name="Google Shape;316;p9"/>
          <p:cNvGrpSpPr/>
          <p:nvPr/>
        </p:nvGrpSpPr>
        <p:grpSpPr>
          <a:xfrm>
            <a:off x="8983142" y="6210014"/>
            <a:ext cx="335414" cy="419281"/>
            <a:chOff x="0" y="0"/>
            <a:chExt cx="447219" cy="559041"/>
          </a:xfrm>
        </p:grpSpPr>
        <p:sp>
          <p:nvSpPr>
            <p:cNvPr id="317" name="Google Shape;317;p9"/>
            <p:cNvSpPr/>
            <p:nvPr/>
          </p:nvSpPr>
          <p:spPr>
            <a:xfrm>
              <a:off x="0" y="0"/>
              <a:ext cx="447219" cy="559039"/>
            </a:xfrm>
            <a:custGeom>
              <a:rect b="b" l="l" r="r" t="t"/>
              <a:pathLst>
                <a:path extrusionOk="0" h="559039" w="447219">
                  <a:moveTo>
                    <a:pt x="0" y="0"/>
                  </a:moveTo>
                  <a:lnTo>
                    <a:pt x="447219" y="0"/>
                  </a:lnTo>
                  <a:lnTo>
                    <a:pt x="447219" y="559039"/>
                  </a:lnTo>
                  <a:lnTo>
                    <a:pt x="0" y="55903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10380" r="-110380" t="0"/>
              </a:stretch>
            </a:blipFill>
            <a:ln>
              <a:noFill/>
            </a:ln>
          </p:spPr>
        </p:sp>
        <p:sp>
          <p:nvSpPr>
            <p:cNvPr id="318" name="Google Shape;318;p9"/>
            <p:cNvSpPr txBox="1"/>
            <p:nvPr/>
          </p:nvSpPr>
          <p:spPr>
            <a:xfrm>
              <a:off x="0" y="0"/>
              <a:ext cx="447218" cy="559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27" u="none" cap="none" strike="noStrike">
                  <a:solidFill>
                    <a:srgbClr val="E2E6E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4</a:t>
              </a:r>
              <a:endParaRPr/>
            </a:p>
          </p:txBody>
        </p:sp>
      </p:grpSp>
      <p:sp>
        <p:nvSpPr>
          <p:cNvPr id="319" name="Google Shape;319;p9"/>
          <p:cNvSpPr txBox="1"/>
          <p:nvPr/>
        </p:nvSpPr>
        <p:spPr>
          <a:xfrm>
            <a:off x="10381174" y="6217844"/>
            <a:ext cx="6840103" cy="35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76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S11–S15</a:t>
            </a:r>
            <a:endParaRPr/>
          </a:p>
        </p:txBody>
      </p:sp>
      <p:sp>
        <p:nvSpPr>
          <p:cNvPr id="320" name="Google Shape;320;p9"/>
          <p:cNvSpPr txBox="1"/>
          <p:nvPr/>
        </p:nvSpPr>
        <p:spPr>
          <a:xfrm>
            <a:off x="10381174" y="6665738"/>
            <a:ext cx="6840103" cy="691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Aplicación de escritorio PySide6 e integración de ciberseguridad OWASP.</a:t>
            </a:r>
            <a:endParaRPr/>
          </a:p>
        </p:txBody>
      </p:sp>
      <p:sp>
        <p:nvSpPr>
          <p:cNvPr id="321" name="Google Shape;321;p9"/>
          <p:cNvSpPr/>
          <p:nvPr/>
        </p:nvSpPr>
        <p:spPr>
          <a:xfrm>
            <a:off x="8164563" y="7627896"/>
            <a:ext cx="738092" cy="28575"/>
          </a:xfrm>
          <a:custGeom>
            <a:rect b="b" l="l" r="r" t="t"/>
            <a:pathLst>
              <a:path extrusionOk="0" h="38100" w="984123">
                <a:moveTo>
                  <a:pt x="0" y="19050"/>
                </a:moveTo>
                <a:cubicBezTo>
                  <a:pt x="0" y="8509"/>
                  <a:pt x="8509" y="0"/>
                  <a:pt x="19050" y="0"/>
                </a:cubicBezTo>
                <a:lnTo>
                  <a:pt x="965073" y="0"/>
                </a:lnTo>
                <a:cubicBezTo>
                  <a:pt x="975614" y="0"/>
                  <a:pt x="984123" y="8509"/>
                  <a:pt x="984123" y="19050"/>
                </a:cubicBezTo>
                <a:cubicBezTo>
                  <a:pt x="984123" y="29591"/>
                  <a:pt x="975614" y="38100"/>
                  <a:pt x="965073" y="38100"/>
                </a:cubicBezTo>
                <a:lnTo>
                  <a:pt x="19050" y="38100"/>
                </a:lnTo>
                <a:cubicBezTo>
                  <a:pt x="8509" y="38100"/>
                  <a:pt x="0" y="29591"/>
                  <a:pt x="0" y="19050"/>
                </a:cubicBezTo>
                <a:close/>
              </a:path>
            </a:pathLst>
          </a:custGeom>
          <a:solidFill>
            <a:srgbClr val="494A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8874119" y="7365454"/>
            <a:ext cx="553689" cy="553688"/>
          </a:xfrm>
          <a:custGeom>
            <a:rect b="b" l="l" r="r" t="t"/>
            <a:pathLst>
              <a:path extrusionOk="0" h="738251" w="738251">
                <a:moveTo>
                  <a:pt x="0" y="49276"/>
                </a:moveTo>
                <a:cubicBezTo>
                  <a:pt x="0" y="21971"/>
                  <a:pt x="21971" y="0"/>
                  <a:pt x="49276" y="0"/>
                </a:cubicBezTo>
                <a:lnTo>
                  <a:pt x="688975" y="0"/>
                </a:lnTo>
                <a:cubicBezTo>
                  <a:pt x="716153" y="0"/>
                  <a:pt x="738251" y="21971"/>
                  <a:pt x="738251" y="49276"/>
                </a:cubicBezTo>
                <a:lnTo>
                  <a:pt x="738251" y="688975"/>
                </a:lnTo>
                <a:cubicBezTo>
                  <a:pt x="738251" y="716153"/>
                  <a:pt x="716280" y="738251"/>
                  <a:pt x="688975" y="738251"/>
                </a:cubicBezTo>
                <a:lnTo>
                  <a:pt x="49276" y="738251"/>
                </a:lnTo>
                <a:cubicBezTo>
                  <a:pt x="21971" y="738124"/>
                  <a:pt x="0" y="716153"/>
                  <a:pt x="0" y="688975"/>
                </a:cubicBezTo>
                <a:close/>
              </a:path>
            </a:pathLst>
          </a:cu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3" name="Google Shape;323;p9"/>
          <p:cNvGrpSpPr/>
          <p:nvPr/>
        </p:nvGrpSpPr>
        <p:grpSpPr>
          <a:xfrm>
            <a:off x="8983142" y="7432548"/>
            <a:ext cx="335414" cy="419281"/>
            <a:chOff x="0" y="0"/>
            <a:chExt cx="447219" cy="559041"/>
          </a:xfrm>
        </p:grpSpPr>
        <p:sp>
          <p:nvSpPr>
            <p:cNvPr id="324" name="Google Shape;324;p9"/>
            <p:cNvSpPr/>
            <p:nvPr/>
          </p:nvSpPr>
          <p:spPr>
            <a:xfrm>
              <a:off x="0" y="0"/>
              <a:ext cx="447219" cy="559039"/>
            </a:xfrm>
            <a:custGeom>
              <a:rect b="b" l="l" r="r" t="t"/>
              <a:pathLst>
                <a:path extrusionOk="0" h="559039" w="447219">
                  <a:moveTo>
                    <a:pt x="0" y="0"/>
                  </a:moveTo>
                  <a:lnTo>
                    <a:pt x="447219" y="0"/>
                  </a:lnTo>
                  <a:lnTo>
                    <a:pt x="447219" y="559039"/>
                  </a:lnTo>
                  <a:lnTo>
                    <a:pt x="0" y="55903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10380" r="-110380" t="0"/>
              </a:stretch>
            </a:blipFill>
            <a:ln>
              <a:noFill/>
            </a:ln>
          </p:spPr>
        </p:sp>
        <p:sp>
          <p:nvSpPr>
            <p:cNvPr id="325" name="Google Shape;325;p9"/>
            <p:cNvSpPr txBox="1"/>
            <p:nvPr/>
          </p:nvSpPr>
          <p:spPr>
            <a:xfrm>
              <a:off x="0" y="0"/>
              <a:ext cx="447218" cy="5590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27" u="none" cap="none" strike="noStrike">
                  <a:solidFill>
                    <a:srgbClr val="E2E6E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5</a:t>
              </a:r>
              <a:endParaRPr/>
            </a:p>
          </p:txBody>
        </p:sp>
      </p:grpSp>
      <p:sp>
        <p:nvSpPr>
          <p:cNvPr id="326" name="Google Shape;326;p9"/>
          <p:cNvSpPr txBox="1"/>
          <p:nvPr/>
        </p:nvSpPr>
        <p:spPr>
          <a:xfrm>
            <a:off x="1080564" y="7440378"/>
            <a:ext cx="6840103" cy="35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48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76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S14–S18</a:t>
            </a:r>
            <a:endParaRPr/>
          </a:p>
        </p:txBody>
      </p:sp>
      <p:sp>
        <p:nvSpPr>
          <p:cNvPr id="327" name="Google Shape;327;p9"/>
          <p:cNvSpPr txBox="1"/>
          <p:nvPr/>
        </p:nvSpPr>
        <p:spPr>
          <a:xfrm>
            <a:off x="1080564" y="7888272"/>
            <a:ext cx="6840103" cy="691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4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Plan QA integral (unitarias, integración, rendimiento, seguridad), cierre documental y defensa final.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0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81A1B"/>
          </a:solidFill>
          <a:ln>
            <a:noFill/>
          </a:ln>
        </p:spPr>
      </p:sp>
      <p:sp>
        <p:nvSpPr>
          <p:cNvPr id="337" name="Google Shape;337;p10"/>
          <p:cNvSpPr/>
          <p:nvPr/>
        </p:nvSpPr>
        <p:spPr>
          <a:xfrm>
            <a:off x="0" y="0"/>
            <a:ext cx="18301811" cy="10295001"/>
          </a:xfrm>
          <a:custGeom>
            <a:rect b="b" l="l" r="r" t="t"/>
            <a:pathLst>
              <a:path extrusionOk="0" h="13726668" w="24402414">
                <a:moveTo>
                  <a:pt x="0" y="0"/>
                </a:moveTo>
                <a:lnTo>
                  <a:pt x="24402414" y="0"/>
                </a:lnTo>
                <a:lnTo>
                  <a:pt x="24402414" y="13726668"/>
                </a:lnTo>
                <a:lnTo>
                  <a:pt x="0" y="13726668"/>
                </a:lnTo>
                <a:close/>
              </a:path>
            </a:pathLst>
          </a:custGeom>
          <a:solidFill>
            <a:srgbClr val="111213"/>
          </a:solidFill>
          <a:ln>
            <a:noFill/>
          </a:ln>
        </p:spPr>
      </p:sp>
      <p:sp>
        <p:nvSpPr>
          <p:cNvPr id="338" name="Google Shape;338;p10"/>
          <p:cNvSpPr/>
          <p:nvPr/>
        </p:nvSpPr>
        <p:spPr>
          <a:xfrm>
            <a:off x="1080564" y="1685601"/>
            <a:ext cx="2569845" cy="469011"/>
          </a:xfrm>
          <a:custGeom>
            <a:rect b="b" l="l" r="r" t="t"/>
            <a:pathLst>
              <a:path extrusionOk="0" h="625348" w="3426460">
                <a:moveTo>
                  <a:pt x="0" y="49403"/>
                </a:moveTo>
                <a:cubicBezTo>
                  <a:pt x="0" y="22098"/>
                  <a:pt x="22098" y="0"/>
                  <a:pt x="49403" y="0"/>
                </a:cubicBezTo>
                <a:lnTo>
                  <a:pt x="3377057" y="0"/>
                </a:lnTo>
                <a:cubicBezTo>
                  <a:pt x="3404362" y="0"/>
                  <a:pt x="3426460" y="22098"/>
                  <a:pt x="3426460" y="49403"/>
                </a:cubicBezTo>
                <a:lnTo>
                  <a:pt x="3426460" y="575945"/>
                </a:lnTo>
                <a:cubicBezTo>
                  <a:pt x="3426460" y="603250"/>
                  <a:pt x="3404362" y="625348"/>
                  <a:pt x="3377057" y="625348"/>
                </a:cubicBezTo>
                <a:lnTo>
                  <a:pt x="49403" y="625348"/>
                </a:lnTo>
                <a:cubicBezTo>
                  <a:pt x="22098" y="625348"/>
                  <a:pt x="0" y="603250"/>
                  <a:pt x="0" y="575945"/>
                </a:cubicBezTo>
                <a:close/>
              </a:path>
            </a:pathLst>
          </a:cu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0"/>
          <p:cNvSpPr txBox="1"/>
          <p:nvPr/>
        </p:nvSpPr>
        <p:spPr>
          <a:xfrm>
            <a:off x="1265701" y="1787623"/>
            <a:ext cx="3114646" cy="2745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1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EVIDENCIAS Y CIERRE</a:t>
            </a:r>
            <a:endParaRPr/>
          </a:p>
        </p:txBody>
      </p:sp>
      <p:sp>
        <p:nvSpPr>
          <p:cNvPr id="340" name="Google Shape;340;p10"/>
          <p:cNvSpPr txBox="1"/>
          <p:nvPr/>
        </p:nvSpPr>
        <p:spPr>
          <a:xfrm>
            <a:off x="1080564" y="2249529"/>
            <a:ext cx="16140713" cy="9058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8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7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Entregables del Proyecto</a:t>
            </a:r>
            <a:endParaRPr/>
          </a:p>
        </p:txBody>
      </p:sp>
      <p:sp>
        <p:nvSpPr>
          <p:cNvPr id="341" name="Google Shape;341;p10"/>
          <p:cNvSpPr/>
          <p:nvPr/>
        </p:nvSpPr>
        <p:spPr>
          <a:xfrm>
            <a:off x="1061504" y="3599393"/>
            <a:ext cx="7954042" cy="5029106"/>
          </a:xfrm>
          <a:custGeom>
            <a:rect b="b" l="l" r="r" t="t"/>
            <a:pathLst>
              <a:path extrusionOk="0" h="6705474" w="10605389">
                <a:moveTo>
                  <a:pt x="0" y="62230"/>
                </a:moveTo>
                <a:cubicBezTo>
                  <a:pt x="0" y="27813"/>
                  <a:pt x="27813" y="0"/>
                  <a:pt x="62230" y="0"/>
                </a:cubicBezTo>
                <a:lnTo>
                  <a:pt x="10543159" y="0"/>
                </a:lnTo>
                <a:cubicBezTo>
                  <a:pt x="10577576" y="0"/>
                  <a:pt x="10605389" y="27813"/>
                  <a:pt x="10605389" y="62230"/>
                </a:cubicBezTo>
                <a:lnTo>
                  <a:pt x="10605389" y="6643243"/>
                </a:lnTo>
                <a:cubicBezTo>
                  <a:pt x="10605389" y="6677661"/>
                  <a:pt x="10577576" y="6705474"/>
                  <a:pt x="10543159" y="6705474"/>
                </a:cubicBezTo>
                <a:lnTo>
                  <a:pt x="62230" y="6705474"/>
                </a:lnTo>
                <a:cubicBezTo>
                  <a:pt x="27813" y="6705474"/>
                  <a:pt x="0" y="6677661"/>
                  <a:pt x="0" y="6643243"/>
                </a:cubicBezTo>
                <a:close/>
              </a:path>
            </a:pathLst>
          </a:custGeom>
          <a:solidFill>
            <a:srgbClr val="111213"/>
          </a:solidFill>
          <a:ln cap="sq" cmpd="sng" w="38125">
            <a:solidFill>
              <a:srgbClr val="494A4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0"/>
          <p:cNvSpPr txBox="1"/>
          <p:nvPr/>
        </p:nvSpPr>
        <p:spPr>
          <a:xfrm>
            <a:off x="1427445" y="3955828"/>
            <a:ext cx="7222141" cy="448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2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Informe de Avance</a:t>
            </a:r>
            <a:endParaRPr/>
          </a:p>
        </p:txBody>
      </p:sp>
      <p:sp>
        <p:nvSpPr>
          <p:cNvPr id="343" name="Google Shape;343;p10"/>
          <p:cNvSpPr txBox="1"/>
          <p:nvPr/>
        </p:nvSpPr>
        <p:spPr>
          <a:xfrm>
            <a:off x="1427445" y="4512926"/>
            <a:ext cx="7222141" cy="2823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7509" lvl="1" marL="435018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401"/>
              <a:buFont typeface="Arial"/>
              <a:buChar char="•"/>
            </a:pPr>
            <a:r>
              <a:rPr b="0" i="0" lang="en-US" sz="2401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Backlog priorizado y Sprint Backlogs iniciales</a:t>
            </a:r>
            <a:endParaRPr/>
          </a:p>
          <a:p>
            <a:pPr indent="-217509" lvl="1" marL="435018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401"/>
              <a:buFont typeface="Arial"/>
              <a:buChar char="•"/>
            </a:pPr>
            <a:r>
              <a:rPr b="0" i="0" lang="en-US" sz="2401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Diseño arquitectónico preliminar y diagramas UML</a:t>
            </a:r>
            <a:endParaRPr/>
          </a:p>
          <a:p>
            <a:pPr indent="-217509" lvl="1" marL="435018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401"/>
              <a:buFont typeface="Arial"/>
              <a:buChar char="•"/>
            </a:pPr>
            <a:r>
              <a:rPr b="0" i="0" lang="en-US" sz="2401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Modelo relacional de BD preliminar</a:t>
            </a:r>
            <a:endParaRPr/>
          </a:p>
          <a:p>
            <a:pPr indent="-217509" lvl="1" marL="435018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401"/>
              <a:buFont typeface="Arial"/>
              <a:buChar char="•"/>
            </a:pPr>
            <a:r>
              <a:rPr b="0" i="0" lang="en-US" sz="2401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Prototipo Web funcional con entorno Docker</a:t>
            </a:r>
            <a:endParaRPr/>
          </a:p>
          <a:p>
            <a:pPr indent="-217509" lvl="1" marL="435018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401"/>
              <a:buFont typeface="Arial"/>
              <a:buChar char="•"/>
            </a:pPr>
            <a:r>
              <a:rPr b="0" i="0" lang="en-US" sz="2401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Actas de retrospectivas de sprints iniciales</a:t>
            </a:r>
            <a:endParaRPr/>
          </a:p>
        </p:txBody>
      </p:sp>
      <p:sp>
        <p:nvSpPr>
          <p:cNvPr id="344" name="Google Shape;344;p10"/>
          <p:cNvSpPr/>
          <p:nvPr/>
        </p:nvSpPr>
        <p:spPr>
          <a:xfrm>
            <a:off x="9286161" y="3599393"/>
            <a:ext cx="7954137" cy="5029106"/>
          </a:xfrm>
          <a:custGeom>
            <a:rect b="b" l="l" r="r" t="t"/>
            <a:pathLst>
              <a:path extrusionOk="0" h="6705474" w="10605516">
                <a:moveTo>
                  <a:pt x="0" y="62230"/>
                </a:moveTo>
                <a:cubicBezTo>
                  <a:pt x="0" y="27813"/>
                  <a:pt x="27813" y="0"/>
                  <a:pt x="62230" y="0"/>
                </a:cubicBezTo>
                <a:lnTo>
                  <a:pt x="10543286" y="0"/>
                </a:lnTo>
                <a:cubicBezTo>
                  <a:pt x="10577703" y="0"/>
                  <a:pt x="10605516" y="27813"/>
                  <a:pt x="10605516" y="62230"/>
                </a:cubicBezTo>
                <a:lnTo>
                  <a:pt x="10605516" y="6643243"/>
                </a:lnTo>
                <a:cubicBezTo>
                  <a:pt x="10605516" y="6677661"/>
                  <a:pt x="10577703" y="6705474"/>
                  <a:pt x="10543286" y="6705474"/>
                </a:cubicBezTo>
                <a:lnTo>
                  <a:pt x="62230" y="6705474"/>
                </a:lnTo>
                <a:cubicBezTo>
                  <a:pt x="27813" y="6705474"/>
                  <a:pt x="0" y="6677661"/>
                  <a:pt x="0" y="6643243"/>
                </a:cubicBezTo>
                <a:close/>
              </a:path>
            </a:pathLst>
          </a:custGeom>
          <a:solidFill>
            <a:srgbClr val="111213"/>
          </a:solidFill>
          <a:ln cap="sq" cmpd="sng" w="38125">
            <a:solidFill>
              <a:srgbClr val="494A4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0"/>
          <p:cNvSpPr txBox="1"/>
          <p:nvPr/>
        </p:nvSpPr>
        <p:spPr>
          <a:xfrm>
            <a:off x="9652102" y="3955828"/>
            <a:ext cx="7222284" cy="448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7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2" u="none" cap="none" strike="noStrike">
                <a:solidFill>
                  <a:srgbClr val="E2E6E9"/>
                </a:solidFill>
                <a:latin typeface="Montserrat"/>
                <a:ea typeface="Montserrat"/>
                <a:cs typeface="Montserrat"/>
                <a:sym typeface="Montserrat"/>
              </a:rPr>
              <a:t>Informe Final</a:t>
            </a:r>
            <a:endParaRPr/>
          </a:p>
        </p:txBody>
      </p:sp>
      <p:sp>
        <p:nvSpPr>
          <p:cNvPr id="346" name="Google Shape;346;p10"/>
          <p:cNvSpPr txBox="1"/>
          <p:nvPr/>
        </p:nvSpPr>
        <p:spPr>
          <a:xfrm>
            <a:off x="9652102" y="4512926"/>
            <a:ext cx="7222284" cy="3749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7509" lvl="1" marL="435018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401"/>
              <a:buFont typeface="Arial"/>
              <a:buChar char="•"/>
            </a:pPr>
            <a:r>
              <a:rPr b="0" i="0" lang="en-US" sz="2401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BD completa (30+ tablas normalizadas en PostgreSQL)</a:t>
            </a:r>
            <a:endParaRPr/>
          </a:p>
          <a:p>
            <a:pPr indent="-217509" lvl="1" marL="435018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401"/>
              <a:buFont typeface="Arial"/>
              <a:buChar char="•"/>
            </a:pPr>
            <a:r>
              <a:rPr b="0" i="0" lang="en-US" sz="2401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Solución dual operativa: Web + Escritorio</a:t>
            </a:r>
            <a:endParaRPr/>
          </a:p>
          <a:p>
            <a:pPr indent="-217509" lvl="1" marL="435018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401"/>
              <a:buFont typeface="Arial"/>
              <a:buChar char="•"/>
            </a:pPr>
            <a:r>
              <a:rPr b="0" i="0" lang="en-US" sz="2401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5 APIs implementadas con documentación técnica</a:t>
            </a:r>
            <a:endParaRPr/>
          </a:p>
          <a:p>
            <a:pPr indent="-217509" lvl="1" marL="435018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401"/>
              <a:buFont typeface="Arial"/>
              <a:buChar char="•"/>
            </a:pPr>
            <a:r>
              <a:rPr b="0" i="0" lang="en-US" sz="2401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Infraestructura Docker y manual de despliegue</a:t>
            </a:r>
            <a:endParaRPr/>
          </a:p>
          <a:p>
            <a:pPr indent="-217509" lvl="1" marL="435018" marR="0" rtl="0" algn="l">
              <a:lnSpc>
                <a:spcPct val="15002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401"/>
              <a:buFont typeface="Arial"/>
              <a:buChar char="•"/>
            </a:pPr>
            <a:r>
              <a:rPr b="0" i="0" lang="en-US" sz="2401" u="none" cap="none" strike="noStrike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Plan de pruebas QA y dossier metodológico completo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